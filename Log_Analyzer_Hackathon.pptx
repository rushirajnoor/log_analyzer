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has solved infrastructure orchestration. It hasn't solved operational intelligence. When a service fails deep in your dependency chain—hidden behind three layers of microservices—Kubernetes doesn't diagnose the root cause. It doesn't understand your topology. It doesn't learn from outcomes. Log_Analyzer is the missing layer between orchestration and autonomous operations.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systems don't fail through isolated events. They fail through dependency chains. One root cause. Three services affected. Dozens of alerts firing. Without intelligence, you're flying blind. 45 minutes to recover.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is brilliant at what it does. But it's fundamentally reactive. There's a fundamental gap between orchestration and autonomous operations. That gap is where most incidents live.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dashboard. This is a reasoning engine. Four pillars: RCA Engine, Metrics Monitor, Dependency Graph, Incident Tracker. All feeding into a Decision Engine. Which triggers Auto-Remediation.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does signal extraction, then dependency resolution. It traces backward through the dependency chain. This is hybrid reasoning—rule-based pattern matching combined with LLM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just flag problems. We assign certainty. HIGH confidence: act immediately. MEDIUM: wait for verification. LOW: human review. This prevents action storms. That's why our false-positive rate is only 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each incident, the system records outcomes. For redis-cart, restart works 60% of the time. Scale-up works 100%. Next time, the system picks the best action. Different services respond differently. The system learns these patterns.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incident lifecycle. Completely autonomous. No human involved. 104 seconds vs 45 minutes. That's not a percentage improvement. That's a fundamental shift.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gets really powerful handling cascades. Fix redis. CartService automatically recovers. Frontend automatically recovers. One action. Three services recovered.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impact. MTTR: 104 seconds fully autonomous vs 45 minutes manual. 94.1% overall remediation success rate. 100% of incidents resolved autonomously. These are real numbers from real incident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real incidents. First: Redis pod crashes. 15 seconds total. Second: Frontend 500 errors traced to Redis root cause. Third: Memory contention, system chose scale-up over restart based on history.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system. Each layer has a purpose. It's not one monolithic script. It's a reasoning platform built from the ground 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differentiators: dependency awareness, adaptive learning, confidence gating, full autonomy. Vs alert-based systems (we reason, they fire alarms). Vs pure ML (we're interpretable). Vs manual ops (seconds vs minutes).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evolved through 11 iterations. Rules first. Then correlation. Then safety gates. Then reasoning. Then learning. That's the foundation of a system you can trust.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paths forward. Predictive autonomy. Multi-cluster reasoning. Natural language operations. These are logical extensions of the reasoning layer we've built. Kubernetes solved orchestration. Operations requires reasoning.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cxnSp>
        <p:nvCxnSpPr>
          <p:cNvPr id="2" name="Connector 1"/>
          <p:cNvCxnSpPr/>
          <p:nvPr/>
        </p:nvCxnSpPr>
        <p:spPr>
          <a:xfrm>
            <a:off x="507987"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15974"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523961"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31949"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539936"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047923"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555911"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63898"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71885"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079873"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587860"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603834"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111822"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619809"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127796"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635784"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143771"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651758"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159746"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667733"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175720"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683707"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489857"/>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979714"/>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1469571"/>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1959428"/>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2449285"/>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2939142"/>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3429000"/>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3918857"/>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4408714"/>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4898571"/>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5388428"/>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5878285"/>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6368142"/>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0" y="0"/>
            <a:ext cx="12191695" cy="73152"/>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6784848"/>
            <a:ext cx="12191695" cy="73152"/>
          </a:xfrm>
          <a:prstGeom prst="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371600" y="1645920"/>
            <a:ext cx="9448495" cy="3840480"/>
          </a:xfrm>
          <a:prstGeom prst="roundRect">
            <a:avLst/>
          </a:prstGeom>
          <a:solidFill>
            <a:srgbClr val="24242A"/>
          </a:solidFill>
          <a:ln w="19050">
            <a:solidFill>
              <a:srgbClr val="3A3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754880" y="1371600"/>
            <a:ext cx="2651760" cy="41148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200" b="1">
                <a:solidFill>
                  <a:srgbClr val="FFFFFF"/>
                </a:solidFill>
                <a:latin typeface="Calibri"/>
              </a:defRPr>
            </a:pPr>
            <a:r>
              <a:t>HACKATHON 2026</a:t>
            </a:r>
          </a:p>
        </p:txBody>
      </p:sp>
      <p:sp>
        <p:nvSpPr>
          <p:cNvPr id="42" name="TextBox 41"/>
          <p:cNvSpPr txBox="1"/>
          <p:nvPr/>
        </p:nvSpPr>
        <p:spPr>
          <a:xfrm>
            <a:off x="1828800" y="2194560"/>
            <a:ext cx="8534095" cy="1097280"/>
          </a:xfrm>
          <a:prstGeom prst="rect">
            <a:avLst/>
          </a:prstGeom>
          <a:noFill/>
        </p:spPr>
        <p:txBody>
          <a:bodyPr wrap="square">
            <a:noAutofit/>
          </a:bodyPr>
          <a:lstStyle/>
          <a:p>
            <a:pPr algn="ctr">
              <a:spcBef>
                <a:spcPts val="0"/>
              </a:spcBef>
              <a:spcAft>
                <a:spcPts val="0"/>
              </a:spcAft>
              <a:defRPr sz="4200" b="1">
                <a:solidFill>
                  <a:srgbClr val="FFFFFF"/>
                </a:solidFill>
                <a:latin typeface="Calibri"/>
              </a:defRPr>
            </a:pPr>
            <a:r>
              <a:t>Toward Reasoning-Driven</a:t>
            </a:r>
            <a:br/>
            <a:r>
              <a:t>Autonomous Infrastructure</a:t>
            </a:r>
          </a:p>
        </p:txBody>
      </p:sp>
      <p:cxnSp>
        <p:nvCxnSpPr>
          <p:cNvPr id="43" name="Connector 42"/>
          <p:cNvCxnSpPr/>
          <p:nvPr/>
        </p:nvCxnSpPr>
        <p:spPr>
          <a:xfrm>
            <a:off x="4114800" y="3520440"/>
            <a:ext cx="3962095"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828800" y="3657600"/>
            <a:ext cx="8534095" cy="731520"/>
          </a:xfrm>
          <a:prstGeom prst="rect">
            <a:avLst/>
          </a:prstGeom>
          <a:noFill/>
        </p:spPr>
        <p:txBody>
          <a:bodyPr wrap="square">
            <a:noAutofit/>
          </a:bodyPr>
          <a:lstStyle/>
          <a:p>
            <a:pPr algn="ctr">
              <a:spcBef>
                <a:spcPts val="0"/>
              </a:spcBef>
              <a:spcAft>
                <a:spcPts val="0"/>
              </a:spcAft>
              <a:defRPr sz="2000" b="0">
                <a:solidFill>
                  <a:srgbClr val="A0A0A0"/>
                </a:solidFill>
                <a:latin typeface="Calibri"/>
              </a:defRPr>
            </a:pPr>
            <a:r>
              <a:t>When Kubernetes Orchestrates, But Operations Still Fails</a:t>
            </a:r>
          </a:p>
        </p:txBody>
      </p:sp>
      <p:sp>
        <p:nvSpPr>
          <p:cNvPr id="45" name="Rounded Rectangle 44"/>
          <p:cNvSpPr/>
          <p:nvPr/>
        </p:nvSpPr>
        <p:spPr>
          <a:xfrm>
            <a:off x="4572000" y="4572000"/>
            <a:ext cx="3047695" cy="502920"/>
          </a:xfrm>
          <a:prstGeom prst="roundRect">
            <a:avLst/>
          </a:prstGeom>
          <a:solidFill>
            <a:srgbClr val="17171B"/>
          </a:solidFill>
          <a:ln w="1905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600" b="1">
                <a:solidFill>
                  <a:srgbClr val="457B9D"/>
                </a:solidFill>
                <a:latin typeface="Calibri"/>
              </a:defRPr>
            </a:pPr>
            <a:r>
              <a:t>Log_Analyzer</a:t>
            </a:r>
          </a:p>
        </p:txBody>
      </p:sp>
      <p:sp>
        <p:nvSpPr>
          <p:cNvPr id="46" name="TextBox 45"/>
          <p:cNvSpPr txBox="1"/>
          <p:nvPr/>
        </p:nvSpPr>
        <p:spPr>
          <a:xfrm>
            <a:off x="1828800" y="5852160"/>
            <a:ext cx="8534095" cy="457200"/>
          </a:xfrm>
          <a:prstGeom prst="rect">
            <a:avLst/>
          </a:prstGeom>
          <a:noFill/>
        </p:spPr>
        <p:txBody>
          <a:bodyPr wrap="square">
            <a:noAutofit/>
          </a:bodyPr>
          <a:lstStyle/>
          <a:p>
            <a:pPr algn="ctr">
              <a:spcBef>
                <a:spcPts val="0"/>
              </a:spcBef>
              <a:spcAft>
                <a:spcPts val="0"/>
              </a:spcAft>
              <a:defRPr sz="1200" b="0">
                <a:solidFill>
                  <a:srgbClr val="A0A0A0"/>
                </a:solidFill>
                <a:latin typeface="Calibri"/>
              </a:defRPr>
            </a:pPr>
            <a:r>
              <a:t>Autonomous AIOps  ·  Root Cause Analysis  ·  Self-Healing  ·  Adaptive Learning</a:t>
            </a:r>
          </a:p>
        </p:txBody>
      </p:sp>
      <p:sp>
        <p:nvSpPr>
          <p:cNvPr id="47" name="TextBox 46"/>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The Hidden Cost of Cloud-Native Complexity</a:t>
            </a:r>
          </a:p>
        </p:txBody>
      </p:sp>
      <p:sp>
        <p:nvSpPr>
          <p:cNvPr id="5" name="Rounded Rectangle 4"/>
          <p:cNvSpPr/>
          <p:nvPr/>
        </p:nvSpPr>
        <p:spPr>
          <a:xfrm>
            <a:off x="640080" y="1280160"/>
            <a:ext cx="3474720" cy="4754880"/>
          </a:xfrm>
          <a:prstGeom prst="roundRect">
            <a:avLst/>
          </a:prstGeom>
          <a:solidFill>
            <a:srgbClr val="2A2A2F"/>
          </a:solidFill>
          <a:ln w="1905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280160"/>
            <a:ext cx="3474720" cy="50292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 CASCADING FAILURE</a:t>
            </a:r>
          </a:p>
        </p:txBody>
      </p:sp>
      <p:sp>
        <p:nvSpPr>
          <p:cNvPr id="7" name="Rounded Rectangle 6"/>
          <p:cNvSpPr/>
          <p:nvPr/>
        </p:nvSpPr>
        <p:spPr>
          <a:xfrm>
            <a:off x="1005840" y="2103120"/>
            <a:ext cx="2377440" cy="548640"/>
          </a:xfrm>
          <a:prstGeom prst="roundRect">
            <a:avLst/>
          </a:prstGeom>
          <a:solidFill>
            <a:srgbClr val="17171B"/>
          </a:solidFill>
          <a:ln w="12700">
            <a:solidFill>
              <a:srgbClr val="3A3A4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300" b="1">
                <a:solidFill>
                  <a:srgbClr val="FFFFFF"/>
                </a:solidFill>
                <a:latin typeface="Calibri"/>
              </a:defRPr>
            </a:pPr>
            <a:r>
              <a:t>Frontend</a:t>
            </a:r>
          </a:p>
          <a:p>
            <a:pPr algn="ctr">
              <a:spcBef>
                <a:spcPts val="100"/>
              </a:spcBef>
              <a:spcAft>
                <a:spcPts val="200"/>
              </a:spcAft>
              <a:defRPr sz="1100" b="0">
                <a:solidFill>
                  <a:srgbClr val="E63946"/>
                </a:solidFill>
                <a:latin typeface="Calibri"/>
              </a:defRPr>
            </a:pPr>
            <a:r>
              <a:t>T+8s</a:t>
            </a:r>
          </a:p>
        </p:txBody>
      </p:sp>
      <p:sp>
        <p:nvSpPr>
          <p:cNvPr id="8" name="Rounded Rectangle 7"/>
          <p:cNvSpPr/>
          <p:nvPr/>
        </p:nvSpPr>
        <p:spPr>
          <a:xfrm>
            <a:off x="1005840" y="3017520"/>
            <a:ext cx="2377440" cy="548640"/>
          </a:xfrm>
          <a:prstGeom prst="roundRect">
            <a:avLst/>
          </a:prstGeom>
          <a:solidFill>
            <a:srgbClr val="17171B"/>
          </a:solidFill>
          <a:ln w="12700">
            <a:solidFill>
              <a:srgbClr val="3A3A4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300" b="1">
                <a:solidFill>
                  <a:srgbClr val="FFFFFF"/>
                </a:solidFill>
                <a:latin typeface="Calibri"/>
              </a:defRPr>
            </a:pPr>
            <a:r>
              <a:t>CartService</a:t>
            </a:r>
          </a:p>
          <a:p>
            <a:pPr algn="ctr">
              <a:spcBef>
                <a:spcPts val="100"/>
              </a:spcBef>
              <a:spcAft>
                <a:spcPts val="200"/>
              </a:spcAft>
              <a:defRPr sz="1100" b="0">
                <a:solidFill>
                  <a:srgbClr val="E63946"/>
                </a:solidFill>
                <a:latin typeface="Calibri"/>
              </a:defRPr>
            </a:pPr>
            <a:r>
              <a:t>T+5s</a:t>
            </a:r>
          </a:p>
        </p:txBody>
      </p:sp>
      <p:sp>
        <p:nvSpPr>
          <p:cNvPr id="9" name="Rounded Rectangle 8"/>
          <p:cNvSpPr/>
          <p:nvPr/>
        </p:nvSpPr>
        <p:spPr>
          <a:xfrm>
            <a:off x="1005840" y="3931920"/>
            <a:ext cx="2377440" cy="548640"/>
          </a:xfrm>
          <a:prstGeom prst="roundRect">
            <a:avLst/>
          </a:prstGeom>
          <a:solidFill>
            <a:srgbClr val="17171B"/>
          </a:solidFill>
          <a:ln w="12700">
            <a:solidFill>
              <a:srgbClr val="3A3A4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300" b="1">
                <a:solidFill>
                  <a:srgbClr val="FFFFFF"/>
                </a:solidFill>
                <a:latin typeface="Calibri"/>
              </a:defRPr>
            </a:pPr>
            <a:r>
              <a:t>Redis-Cart</a:t>
            </a:r>
          </a:p>
          <a:p>
            <a:pPr algn="ctr">
              <a:spcBef>
                <a:spcPts val="100"/>
              </a:spcBef>
              <a:spcAft>
                <a:spcPts val="200"/>
              </a:spcAft>
              <a:defRPr sz="1100" b="0">
                <a:solidFill>
                  <a:srgbClr val="E63946"/>
                </a:solidFill>
                <a:latin typeface="Calibri"/>
              </a:defRPr>
            </a:pPr>
            <a:r>
              <a:t>T0 (Root)</a:t>
            </a:r>
          </a:p>
        </p:txBody>
      </p:sp>
      <p:sp>
        <p:nvSpPr>
          <p:cNvPr id="10" name="Right Arrow 9"/>
          <p:cNvSpPr/>
          <p:nvPr/>
        </p:nvSpPr>
        <p:spPr>
          <a:xfrm>
            <a:off x="1965960" y="2697480"/>
            <a:ext cx="457200" cy="228600"/>
          </a:xfrm>
          <a:prstGeom prst="rightArrow">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1965960" y="3611880"/>
            <a:ext cx="457200" cy="228600"/>
          </a:xfrm>
          <a:prstGeom prst="rightArrow">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754880"/>
            <a:ext cx="2926080" cy="731520"/>
          </a:xfrm>
          <a:prstGeom prst="rect">
            <a:avLst/>
          </a:prstGeom>
          <a:noFill/>
        </p:spPr>
        <p:txBody>
          <a:bodyPr wrap="square">
            <a:noAutofit/>
          </a:bodyPr>
          <a:lstStyle/>
          <a:p>
            <a:pPr algn="ctr">
              <a:spcBef>
                <a:spcPts val="0"/>
              </a:spcBef>
              <a:spcAft>
                <a:spcPts val="0"/>
              </a:spcAft>
              <a:defRPr sz="1200" b="0">
                <a:solidFill>
                  <a:srgbClr val="A0A0A0"/>
                </a:solidFill>
                <a:latin typeface="Calibri"/>
              </a:defRPr>
            </a:pPr>
            <a:r>
              <a:t>One root cause triggers</a:t>
            </a:r>
            <a:br/>
            <a:r>
              <a:t>three service failures</a:t>
            </a:r>
          </a:p>
        </p:txBody>
      </p:sp>
      <p:sp>
        <p:nvSpPr>
          <p:cNvPr id="13" name="Rounded Rectangle 12"/>
          <p:cNvSpPr/>
          <p:nvPr/>
        </p:nvSpPr>
        <p:spPr>
          <a:xfrm>
            <a:off x="4389120" y="1280160"/>
            <a:ext cx="3383280" cy="4754880"/>
          </a:xfrm>
          <a:prstGeom prst="roundRect">
            <a:avLst/>
          </a:prstGeom>
          <a:solidFill>
            <a:srgbClr val="2A2A2F"/>
          </a:solidFill>
          <a:ln w="1905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89120" y="1280160"/>
            <a:ext cx="3383280" cy="502920"/>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 ALERT FATIGUE</a:t>
            </a:r>
          </a:p>
        </p:txBody>
      </p:sp>
      <p:sp>
        <p:nvSpPr>
          <p:cNvPr id="15" name="TextBox 14"/>
          <p:cNvSpPr txBox="1"/>
          <p:nvPr/>
        </p:nvSpPr>
        <p:spPr>
          <a:xfrm>
            <a:off x="4572000" y="2103120"/>
            <a:ext cx="3017520" cy="914400"/>
          </a:xfrm>
          <a:prstGeom prst="rect">
            <a:avLst/>
          </a:prstGeom>
          <a:noFill/>
        </p:spPr>
        <p:txBody>
          <a:bodyPr wrap="square">
            <a:noAutofit/>
          </a:bodyPr>
          <a:lstStyle/>
          <a:p>
            <a:pPr algn="ctr">
              <a:spcBef>
                <a:spcPts val="0"/>
              </a:spcBef>
              <a:spcAft>
                <a:spcPts val="0"/>
              </a:spcAft>
              <a:defRPr sz="6400" b="1">
                <a:solidFill>
                  <a:srgbClr val="F77F00"/>
                </a:solidFill>
                <a:latin typeface="Calibri"/>
              </a:defRPr>
            </a:pPr>
            <a:r>
              <a:t>92%</a:t>
            </a:r>
          </a:p>
        </p:txBody>
      </p:sp>
      <p:sp>
        <p:nvSpPr>
          <p:cNvPr id="16" name="TextBox 15"/>
          <p:cNvSpPr txBox="1"/>
          <p:nvPr/>
        </p:nvSpPr>
        <p:spPr>
          <a:xfrm>
            <a:off x="4572000" y="3108960"/>
            <a:ext cx="3017520" cy="457200"/>
          </a:xfrm>
          <a:prstGeom prst="rect">
            <a:avLst/>
          </a:prstGeom>
          <a:noFill/>
        </p:spPr>
        <p:txBody>
          <a:bodyPr wrap="square">
            <a:noAutofit/>
          </a:bodyPr>
          <a:lstStyle/>
          <a:p>
            <a:pPr algn="ctr">
              <a:spcBef>
                <a:spcPts val="0"/>
              </a:spcBef>
              <a:spcAft>
                <a:spcPts val="0"/>
              </a:spcAft>
              <a:defRPr sz="1600" b="0">
                <a:solidFill>
                  <a:srgbClr val="D0D0D0"/>
                </a:solidFill>
                <a:latin typeface="Calibri"/>
              </a:defRPr>
            </a:pPr>
            <a:r>
              <a:t>of alerts are symptoms,</a:t>
            </a:r>
            <a:br/>
            <a:r>
              <a:t>not root causes</a:t>
            </a:r>
          </a:p>
        </p:txBody>
      </p:sp>
      <p:sp>
        <p:nvSpPr>
          <p:cNvPr id="17" name="Rounded Rectangle 16"/>
          <p:cNvSpPr/>
          <p:nvPr/>
        </p:nvSpPr>
        <p:spPr>
          <a:xfrm>
            <a:off x="4800600" y="3931920"/>
            <a:ext cx="2560320" cy="201168"/>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00600" y="4224528"/>
            <a:ext cx="2286000" cy="201168"/>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800600" y="4517136"/>
            <a:ext cx="2011679" cy="201168"/>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800600" y="4809744"/>
            <a:ext cx="1737360" cy="201168"/>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800600" y="5102352"/>
            <a:ext cx="1463039" cy="201168"/>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800600" y="5394960"/>
            <a:ext cx="1188719" cy="201168"/>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0" y="1280160"/>
            <a:ext cx="3474720" cy="4754880"/>
          </a:xfrm>
          <a:prstGeom prst="roundRect">
            <a:avLst/>
          </a:prstGeom>
          <a:solidFill>
            <a:srgbClr val="2A2A2F"/>
          </a:solidFill>
          <a:ln w="1905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46720" y="1280160"/>
            <a:ext cx="3474720" cy="502920"/>
          </a:xfrm>
          <a:prstGeom prst="round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 REACTIVE OPS</a:t>
            </a:r>
          </a:p>
        </p:txBody>
      </p:sp>
      <p:sp>
        <p:nvSpPr>
          <p:cNvPr id="25" name="TextBox 24"/>
          <p:cNvSpPr txBox="1"/>
          <p:nvPr/>
        </p:nvSpPr>
        <p:spPr>
          <a:xfrm>
            <a:off x="8229600" y="2103120"/>
            <a:ext cx="3108960" cy="548640"/>
          </a:xfrm>
          <a:prstGeom prst="rect">
            <a:avLst/>
          </a:prstGeom>
          <a:noFill/>
        </p:spPr>
        <p:txBody>
          <a:bodyPr wrap="square">
            <a:noAutofit/>
          </a:bodyPr>
          <a:lstStyle/>
          <a:p>
            <a:pPr algn="ctr">
              <a:spcBef>
                <a:spcPts val="0"/>
              </a:spcBef>
              <a:spcAft>
                <a:spcPts val="0"/>
              </a:spcAft>
              <a:defRPr sz="1400" b="0">
                <a:solidFill>
                  <a:srgbClr val="A0A0A0"/>
                </a:solidFill>
                <a:latin typeface="Calibri"/>
              </a:defRPr>
            </a:pPr>
            <a:r>
              <a:t>Average MTTR</a:t>
            </a:r>
          </a:p>
        </p:txBody>
      </p:sp>
      <p:sp>
        <p:nvSpPr>
          <p:cNvPr id="26" name="TextBox 25"/>
          <p:cNvSpPr txBox="1"/>
          <p:nvPr/>
        </p:nvSpPr>
        <p:spPr>
          <a:xfrm>
            <a:off x="8229600" y="2560320"/>
            <a:ext cx="3108960" cy="1097280"/>
          </a:xfrm>
          <a:prstGeom prst="rect">
            <a:avLst/>
          </a:prstGeom>
          <a:noFill/>
        </p:spPr>
        <p:txBody>
          <a:bodyPr wrap="square">
            <a:noAutofit/>
          </a:bodyPr>
          <a:lstStyle/>
          <a:p>
            <a:pPr algn="ctr">
              <a:spcBef>
                <a:spcPts val="0"/>
              </a:spcBef>
              <a:spcAft>
                <a:spcPts val="0"/>
              </a:spcAft>
              <a:defRPr sz="5600" b="1">
                <a:solidFill>
                  <a:srgbClr val="E63946"/>
                </a:solidFill>
                <a:latin typeface="Calibri"/>
              </a:defRPr>
            </a:pPr>
            <a:r>
              <a:t>45 min</a:t>
            </a:r>
          </a:p>
        </p:txBody>
      </p:sp>
      <p:sp>
        <p:nvSpPr>
          <p:cNvPr id="27" name="TextBox 26"/>
          <p:cNvSpPr txBox="1"/>
          <p:nvPr/>
        </p:nvSpPr>
        <p:spPr>
          <a:xfrm>
            <a:off x="8229600" y="3566160"/>
            <a:ext cx="3108960" cy="457200"/>
          </a:xfrm>
          <a:prstGeom prst="rect">
            <a:avLst/>
          </a:prstGeom>
          <a:noFill/>
        </p:spPr>
        <p:txBody>
          <a:bodyPr wrap="square">
            <a:noAutofit/>
          </a:bodyPr>
          <a:lstStyle/>
          <a:p>
            <a:pPr algn="ctr">
              <a:spcBef>
                <a:spcPts val="0"/>
              </a:spcBef>
              <a:spcAft>
                <a:spcPts val="0"/>
              </a:spcAft>
              <a:defRPr sz="1400" b="0">
                <a:solidFill>
                  <a:srgbClr val="A0A0A0"/>
                </a:solidFill>
                <a:latin typeface="Calibri"/>
              </a:defRPr>
            </a:pPr>
            <a:r>
              <a:t>manual incident response</a:t>
            </a:r>
          </a:p>
        </p:txBody>
      </p:sp>
      <p:sp>
        <p:nvSpPr>
          <p:cNvPr id="28" name="TextBox 27"/>
          <p:cNvSpPr txBox="1"/>
          <p:nvPr/>
        </p:nvSpPr>
        <p:spPr>
          <a:xfrm>
            <a:off x="8321040" y="4206240"/>
            <a:ext cx="2926080" cy="274320"/>
          </a:xfrm>
          <a:prstGeom prst="rect">
            <a:avLst/>
          </a:prstGeom>
          <a:noFill/>
        </p:spPr>
        <p:txBody>
          <a:bodyPr wrap="square">
            <a:noAutofit/>
          </a:bodyPr>
          <a:lstStyle/>
          <a:p>
            <a:pPr algn="l">
              <a:spcBef>
                <a:spcPts val="0"/>
              </a:spcBef>
              <a:spcAft>
                <a:spcPts val="0"/>
              </a:spcAft>
              <a:defRPr sz="1100" b="1">
                <a:solidFill>
                  <a:srgbClr val="A0A0A0"/>
                </a:solidFill>
                <a:latin typeface="Calibri"/>
              </a:defRPr>
            </a:pPr>
            <a:r>
              <a:t>Typical Incident Timeline</a:t>
            </a:r>
          </a:p>
        </p:txBody>
      </p:sp>
      <p:sp>
        <p:nvSpPr>
          <p:cNvPr id="29" name="Rounded Rectangle 28"/>
          <p:cNvSpPr/>
          <p:nvPr/>
        </p:nvSpPr>
        <p:spPr>
          <a:xfrm>
            <a:off x="8321040" y="4526280"/>
            <a:ext cx="365760" cy="32004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800" b="1">
                <a:solidFill>
                  <a:srgbClr val="FFFFFF"/>
                </a:solidFill>
                <a:latin typeface="Calibri"/>
              </a:defRPr>
            </a:pPr>
            <a:r>
              <a:t>Detect</a:t>
            </a:r>
          </a:p>
        </p:txBody>
      </p:sp>
      <p:sp>
        <p:nvSpPr>
          <p:cNvPr id="30" name="Rounded Rectangle 29"/>
          <p:cNvSpPr/>
          <p:nvPr/>
        </p:nvSpPr>
        <p:spPr>
          <a:xfrm>
            <a:off x="8732520" y="4526280"/>
            <a:ext cx="548640" cy="320040"/>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800" b="1">
                <a:solidFill>
                  <a:srgbClr val="FFFFFF"/>
                </a:solidFill>
                <a:latin typeface="Calibri"/>
              </a:defRPr>
            </a:pPr>
            <a:r>
              <a:t>Triage</a:t>
            </a:r>
          </a:p>
        </p:txBody>
      </p:sp>
      <p:sp>
        <p:nvSpPr>
          <p:cNvPr id="31" name="Rounded Rectangle 30"/>
          <p:cNvSpPr/>
          <p:nvPr/>
        </p:nvSpPr>
        <p:spPr>
          <a:xfrm>
            <a:off x="9326880" y="4526280"/>
            <a:ext cx="914400" cy="320040"/>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800" b="1">
                <a:solidFill>
                  <a:srgbClr val="FFFFFF"/>
                </a:solidFill>
                <a:latin typeface="Calibri"/>
              </a:defRPr>
            </a:pPr>
            <a:r>
              <a:t>Diagnose</a:t>
            </a:r>
          </a:p>
        </p:txBody>
      </p:sp>
      <p:sp>
        <p:nvSpPr>
          <p:cNvPr id="32" name="Rounded Rectangle 31"/>
          <p:cNvSpPr/>
          <p:nvPr/>
        </p:nvSpPr>
        <p:spPr>
          <a:xfrm>
            <a:off x="10287000" y="4526280"/>
            <a:ext cx="640080" cy="320040"/>
          </a:xfrm>
          <a:prstGeom prst="round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800" b="1">
                <a:solidFill>
                  <a:srgbClr val="FFFFFF"/>
                </a:solidFill>
                <a:latin typeface="Calibri"/>
              </a:defRPr>
            </a:pPr>
            <a:r>
              <a:t>Fix</a:t>
            </a:r>
          </a:p>
        </p:txBody>
      </p:sp>
      <p:sp>
        <p:nvSpPr>
          <p:cNvPr id="33" name="Rounded Rectangle 32"/>
          <p:cNvSpPr/>
          <p:nvPr/>
        </p:nvSpPr>
        <p:spPr>
          <a:xfrm>
            <a:off x="10972800" y="4526280"/>
            <a:ext cx="457200" cy="32004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800" b="1">
                <a:solidFill>
                  <a:srgbClr val="FFFFFF"/>
                </a:solidFill>
                <a:latin typeface="Calibri"/>
              </a:defRPr>
            </a:pPr>
            <a:r>
              <a:t>Verify</a:t>
            </a:r>
          </a:p>
        </p:txBody>
      </p:sp>
      <p:sp>
        <p:nvSpPr>
          <p:cNvPr id="34" name="TextBox 33"/>
          <p:cNvSpPr txBox="1"/>
          <p:nvPr/>
        </p:nvSpPr>
        <p:spPr>
          <a:xfrm>
            <a:off x="8321040" y="4983480"/>
            <a:ext cx="2926080" cy="274320"/>
          </a:xfrm>
          <a:prstGeom prst="rect">
            <a:avLst/>
          </a:prstGeom>
          <a:noFill/>
        </p:spPr>
        <p:txBody>
          <a:bodyPr wrap="square">
            <a:noAutofit/>
          </a:bodyPr>
          <a:lstStyle/>
          <a:p>
            <a:pPr algn="ctr">
              <a:spcBef>
                <a:spcPts val="0"/>
              </a:spcBef>
              <a:spcAft>
                <a:spcPts val="0"/>
              </a:spcAft>
              <a:defRPr sz="1000" b="0">
                <a:solidFill>
                  <a:srgbClr val="A0A0A0"/>
                </a:solidFill>
                <a:latin typeface="Calibri"/>
              </a:defRPr>
            </a:pPr>
            <a:r>
              <a:t>Most time: diagnosing root cause</a:t>
            </a:r>
          </a:p>
        </p:txBody>
      </p:sp>
      <p:sp>
        <p:nvSpPr>
          <p:cNvPr id="35" name="TextBox 34"/>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The Gap Between Orchestration and Intelligence</a:t>
            </a:r>
          </a:p>
        </p:txBody>
      </p:sp>
      <p:sp>
        <p:nvSpPr>
          <p:cNvPr id="5" name="Rounded Rectangle 4"/>
          <p:cNvSpPr/>
          <p:nvPr/>
        </p:nvSpPr>
        <p:spPr>
          <a:xfrm>
            <a:off x="640080" y="1280160"/>
            <a:ext cx="4846320" cy="4023360"/>
          </a:xfrm>
          <a:prstGeom prst="roundRect">
            <a:avLst/>
          </a:prstGeom>
          <a:solidFill>
            <a:srgbClr val="2A2A2F"/>
          </a:solidFill>
          <a:ln w="1905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280160"/>
            <a:ext cx="4846320" cy="50292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  WHAT KUBERNETES DOES WELL</a:t>
            </a:r>
          </a:p>
        </p:txBody>
      </p:sp>
      <p:sp>
        <p:nvSpPr>
          <p:cNvPr id="7" name="Rounded Rectangle 6"/>
          <p:cNvSpPr/>
          <p:nvPr/>
        </p:nvSpPr>
        <p:spPr>
          <a:xfrm>
            <a:off x="1005840" y="2011680"/>
            <a:ext cx="320040" cy="32004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8" name="TextBox 7"/>
          <p:cNvSpPr txBox="1"/>
          <p:nvPr/>
        </p:nvSpPr>
        <p:spPr>
          <a:xfrm>
            <a:off x="1417320" y="201168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Container Scheduling &amp; Placement</a:t>
            </a:r>
          </a:p>
        </p:txBody>
      </p:sp>
      <p:sp>
        <p:nvSpPr>
          <p:cNvPr id="9" name="Rounded Rectangle 8"/>
          <p:cNvSpPr/>
          <p:nvPr/>
        </p:nvSpPr>
        <p:spPr>
          <a:xfrm>
            <a:off x="1005840" y="2514600"/>
            <a:ext cx="320040" cy="32004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10" name="TextBox 9"/>
          <p:cNvSpPr txBox="1"/>
          <p:nvPr/>
        </p:nvSpPr>
        <p:spPr>
          <a:xfrm>
            <a:off x="1417320" y="251460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Resource Allocation &amp; Limits</a:t>
            </a:r>
          </a:p>
        </p:txBody>
      </p:sp>
      <p:sp>
        <p:nvSpPr>
          <p:cNvPr id="11" name="Rounded Rectangle 10"/>
          <p:cNvSpPr/>
          <p:nvPr/>
        </p:nvSpPr>
        <p:spPr>
          <a:xfrm>
            <a:off x="1005840" y="3017520"/>
            <a:ext cx="320040" cy="32004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12" name="TextBox 11"/>
          <p:cNvSpPr txBox="1"/>
          <p:nvPr/>
        </p:nvSpPr>
        <p:spPr>
          <a:xfrm>
            <a:off x="1417320" y="301752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Liveness &amp; Readiness Checks</a:t>
            </a:r>
          </a:p>
        </p:txBody>
      </p:sp>
      <p:sp>
        <p:nvSpPr>
          <p:cNvPr id="13" name="Rounded Rectangle 12"/>
          <p:cNvSpPr/>
          <p:nvPr/>
        </p:nvSpPr>
        <p:spPr>
          <a:xfrm>
            <a:off x="1005840" y="3520440"/>
            <a:ext cx="320040" cy="32004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14" name="TextBox 13"/>
          <p:cNvSpPr txBox="1"/>
          <p:nvPr/>
        </p:nvSpPr>
        <p:spPr>
          <a:xfrm>
            <a:off x="1417320" y="352044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Rolling Updates &amp; Rollbacks</a:t>
            </a:r>
          </a:p>
        </p:txBody>
      </p:sp>
      <p:sp>
        <p:nvSpPr>
          <p:cNvPr id="15" name="Rounded Rectangle 14"/>
          <p:cNvSpPr/>
          <p:nvPr/>
        </p:nvSpPr>
        <p:spPr>
          <a:xfrm>
            <a:off x="1005840" y="4023360"/>
            <a:ext cx="320040" cy="32004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16" name="TextBox 15"/>
          <p:cNvSpPr txBox="1"/>
          <p:nvPr/>
        </p:nvSpPr>
        <p:spPr>
          <a:xfrm>
            <a:off x="1417320" y="402336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Load Balancing &amp; Service Discovery</a:t>
            </a:r>
          </a:p>
        </p:txBody>
      </p:sp>
      <p:sp>
        <p:nvSpPr>
          <p:cNvPr id="17" name="Rounded Rectangle 16"/>
          <p:cNvSpPr/>
          <p:nvPr/>
        </p:nvSpPr>
        <p:spPr>
          <a:xfrm>
            <a:off x="1005840" y="4526280"/>
            <a:ext cx="320040" cy="32004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18" name="TextBox 17"/>
          <p:cNvSpPr txBox="1"/>
          <p:nvPr/>
        </p:nvSpPr>
        <p:spPr>
          <a:xfrm>
            <a:off x="1417320" y="452628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Automatic Pod Restarts</a:t>
            </a:r>
          </a:p>
        </p:txBody>
      </p:sp>
      <p:sp>
        <p:nvSpPr>
          <p:cNvPr id="19" name="Rounded Rectangle 18"/>
          <p:cNvSpPr/>
          <p:nvPr/>
        </p:nvSpPr>
        <p:spPr>
          <a:xfrm>
            <a:off x="6675120" y="1280160"/>
            <a:ext cx="4846320" cy="4023360"/>
          </a:xfrm>
          <a:prstGeom prst="roundRect">
            <a:avLst/>
          </a:prstGeom>
          <a:solidFill>
            <a:srgbClr val="2A2A2F"/>
          </a:solidFill>
          <a:ln w="1905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675120" y="1280160"/>
            <a:ext cx="4846320" cy="50292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  WHAT IT DOESN'T DO</a:t>
            </a:r>
          </a:p>
        </p:txBody>
      </p:sp>
      <p:sp>
        <p:nvSpPr>
          <p:cNvPr id="21" name="Rounded Rectangle 20"/>
          <p:cNvSpPr/>
          <p:nvPr/>
        </p:nvSpPr>
        <p:spPr>
          <a:xfrm>
            <a:off x="7040880" y="2011680"/>
            <a:ext cx="320040" cy="32004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22" name="TextBox 21"/>
          <p:cNvSpPr txBox="1"/>
          <p:nvPr/>
        </p:nvSpPr>
        <p:spPr>
          <a:xfrm>
            <a:off x="7452360" y="201168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Correlate Multi-Service Failures</a:t>
            </a:r>
          </a:p>
        </p:txBody>
      </p:sp>
      <p:sp>
        <p:nvSpPr>
          <p:cNvPr id="23" name="Rounded Rectangle 22"/>
          <p:cNvSpPr/>
          <p:nvPr/>
        </p:nvSpPr>
        <p:spPr>
          <a:xfrm>
            <a:off x="7040880" y="2514600"/>
            <a:ext cx="320040" cy="32004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24" name="TextBox 23"/>
          <p:cNvSpPr txBox="1"/>
          <p:nvPr/>
        </p:nvSpPr>
        <p:spPr>
          <a:xfrm>
            <a:off x="7452360" y="251460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Understand Dependency Topology</a:t>
            </a:r>
          </a:p>
        </p:txBody>
      </p:sp>
      <p:sp>
        <p:nvSpPr>
          <p:cNvPr id="25" name="Rounded Rectangle 24"/>
          <p:cNvSpPr/>
          <p:nvPr/>
        </p:nvSpPr>
        <p:spPr>
          <a:xfrm>
            <a:off x="7040880" y="3017520"/>
            <a:ext cx="320040" cy="32004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26" name="TextBox 25"/>
          <p:cNvSpPr txBox="1"/>
          <p:nvPr/>
        </p:nvSpPr>
        <p:spPr>
          <a:xfrm>
            <a:off x="7452360" y="301752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Diagnose Root Causes</a:t>
            </a:r>
          </a:p>
        </p:txBody>
      </p:sp>
      <p:sp>
        <p:nvSpPr>
          <p:cNvPr id="27" name="Rounded Rectangle 26"/>
          <p:cNvSpPr/>
          <p:nvPr/>
        </p:nvSpPr>
        <p:spPr>
          <a:xfrm>
            <a:off x="7040880" y="3520440"/>
            <a:ext cx="320040" cy="32004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28" name="TextBox 27"/>
          <p:cNvSpPr txBox="1"/>
          <p:nvPr/>
        </p:nvSpPr>
        <p:spPr>
          <a:xfrm>
            <a:off x="7452360" y="352044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Make Context-Aware Decisions</a:t>
            </a:r>
          </a:p>
        </p:txBody>
      </p:sp>
      <p:sp>
        <p:nvSpPr>
          <p:cNvPr id="29" name="Rounded Rectangle 28"/>
          <p:cNvSpPr/>
          <p:nvPr/>
        </p:nvSpPr>
        <p:spPr>
          <a:xfrm>
            <a:off x="7040880" y="4023360"/>
            <a:ext cx="320040" cy="32004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30" name="TextBox 29"/>
          <p:cNvSpPr txBox="1"/>
          <p:nvPr/>
        </p:nvSpPr>
        <p:spPr>
          <a:xfrm>
            <a:off x="7452360" y="402336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Learn from Past Outcomes</a:t>
            </a:r>
          </a:p>
        </p:txBody>
      </p:sp>
      <p:sp>
        <p:nvSpPr>
          <p:cNvPr id="31" name="Rounded Rectangle 30"/>
          <p:cNvSpPr/>
          <p:nvPr/>
        </p:nvSpPr>
        <p:spPr>
          <a:xfrm>
            <a:off x="7040880" y="4526280"/>
            <a:ext cx="320040" cy="32004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a:t>
            </a:r>
          </a:p>
        </p:txBody>
      </p:sp>
      <p:sp>
        <p:nvSpPr>
          <p:cNvPr id="32" name="TextBox 31"/>
          <p:cNvSpPr txBox="1"/>
          <p:nvPr/>
        </p:nvSpPr>
        <p:spPr>
          <a:xfrm>
            <a:off x="7452360" y="4526280"/>
            <a:ext cx="3840480" cy="365760"/>
          </a:xfrm>
          <a:prstGeom prst="rect">
            <a:avLst/>
          </a:prstGeom>
          <a:noFill/>
        </p:spPr>
        <p:txBody>
          <a:bodyPr wrap="square">
            <a:noAutofit/>
          </a:bodyPr>
          <a:lstStyle/>
          <a:p>
            <a:pPr algn="l">
              <a:spcBef>
                <a:spcPts val="0"/>
              </a:spcBef>
              <a:spcAft>
                <a:spcPts val="0"/>
              </a:spcAft>
              <a:defRPr sz="1400" b="0">
                <a:solidFill>
                  <a:srgbClr val="FFFFFF"/>
                </a:solidFill>
                <a:latin typeface="Calibri"/>
              </a:defRPr>
            </a:pPr>
            <a:r>
              <a:t>Adapt Remediation Strategy</a:t>
            </a:r>
          </a:p>
        </p:txBody>
      </p:sp>
      <p:sp>
        <p:nvSpPr>
          <p:cNvPr id="33" name="Oval 32"/>
          <p:cNvSpPr/>
          <p:nvPr/>
        </p:nvSpPr>
        <p:spPr>
          <a:xfrm>
            <a:off x="5715000" y="2926080"/>
            <a:ext cx="731520" cy="731520"/>
          </a:xfrm>
          <a:prstGeom prst="ellipse">
            <a:avLst/>
          </a:prstGeom>
          <a:solidFill>
            <a:srgbClr val="17171B"/>
          </a:solidFill>
          <a:ln w="25400">
            <a:solidFill>
              <a:srgbClr val="3A3A4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600" b="1">
                <a:solidFill>
                  <a:srgbClr val="FFFFFF"/>
                </a:solidFill>
                <a:latin typeface="Calibri"/>
              </a:defRPr>
            </a:pPr>
            <a:r>
              <a:t>VS</a:t>
            </a:r>
          </a:p>
        </p:txBody>
      </p:sp>
      <p:sp>
        <p:nvSpPr>
          <p:cNvPr id="34" name="Rounded Rectangle 33"/>
          <p:cNvSpPr/>
          <p:nvPr/>
        </p:nvSpPr>
        <p:spPr>
          <a:xfrm>
            <a:off x="1371600" y="5577840"/>
            <a:ext cx="9448495" cy="777240"/>
          </a:xfrm>
          <a:prstGeom prst="roundRect">
            <a:avLst/>
          </a:prstGeom>
          <a:solidFill>
            <a:srgbClr val="17171B"/>
          </a:solidFill>
          <a:ln w="1905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600" b="0">
                <a:solidFill>
                  <a:srgbClr val="457B9D"/>
                </a:solidFill>
                <a:latin typeface="Calibri"/>
              </a:defRPr>
            </a:pPr>
            <a:r>
              <a:t>"Kubernetes automates infrastructure. Operational intelligence requires reasoning."</a:t>
            </a:r>
          </a:p>
        </p:txBody>
      </p:sp>
      <p:sp>
        <p:nvSpPr>
          <p:cNvPr id="35" name="TextBox 34"/>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7209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An Operational Reasoning Engine for Kubernetes</a:t>
            </a:r>
          </a:p>
        </p:txBody>
      </p:sp>
      <p:sp>
        <p:nvSpPr>
          <p:cNvPr id="5" name="Rounded Rectangle 4"/>
          <p:cNvSpPr/>
          <p:nvPr/>
        </p:nvSpPr>
        <p:spPr>
          <a:xfrm>
            <a:off x="2286000" y="1371600"/>
            <a:ext cx="7619695" cy="640080"/>
          </a:xfrm>
          <a:prstGeom prst="roundRect">
            <a:avLst/>
          </a:prstGeom>
          <a:solidFill>
            <a:srgbClr val="7209B7"/>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500" b="1">
                <a:solidFill>
                  <a:srgbClr val="FFFFFF"/>
                </a:solidFill>
                <a:latin typeface="Calibri"/>
              </a:defRPr>
            </a:pPr>
            <a:r>
              <a:t>DECISION &amp; LEARNING LAYER</a:t>
            </a:r>
          </a:p>
        </p:txBody>
      </p:sp>
      <p:sp>
        <p:nvSpPr>
          <p:cNvPr id="6" name="Right Arrow 5"/>
          <p:cNvSpPr/>
          <p:nvPr/>
        </p:nvSpPr>
        <p:spPr>
          <a:xfrm>
            <a:off x="5852160" y="2057400"/>
            <a:ext cx="457200" cy="274320"/>
          </a:xfrm>
          <a:prstGeom prst="rightArrow">
            <a:avLst/>
          </a:prstGeom>
          <a:solidFill>
            <a:srgbClr val="7209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6095390" y="2057400"/>
            <a:ext cx="0" cy="274320"/>
          </a:xfrm>
          <a:prstGeom prst="line">
            <a:avLst/>
          </a:prstGeom>
          <a:ln w="38100">
            <a:solidFill>
              <a:srgbClr val="7209B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371600" y="2468880"/>
            <a:ext cx="1828800" cy="1005840"/>
          </a:xfrm>
          <a:prstGeom prst="roundRect">
            <a:avLst/>
          </a:prstGeom>
          <a:solidFill>
            <a:srgbClr val="2A2A2F"/>
          </a:solidFill>
          <a:ln w="254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300" b="1">
                <a:solidFill>
                  <a:srgbClr val="E63946"/>
                </a:solidFill>
                <a:latin typeface="Calibri"/>
              </a:defRPr>
            </a:pPr>
            <a:r>
              <a:t>RCA</a:t>
            </a:r>
          </a:p>
          <a:p>
            <a:pPr algn="ctr">
              <a:spcBef>
                <a:spcPts val="100"/>
              </a:spcBef>
              <a:spcAft>
                <a:spcPts val="200"/>
              </a:spcAft>
              <a:defRPr sz="1100" b="0">
                <a:solidFill>
                  <a:srgbClr val="A0A0A0"/>
                </a:solidFill>
                <a:latin typeface="Calibri"/>
              </a:defRPr>
            </a:pPr>
            <a:r>
              <a:t>Engine</a:t>
            </a:r>
          </a:p>
        </p:txBody>
      </p:sp>
      <p:sp>
        <p:nvSpPr>
          <p:cNvPr id="9" name="Rounded Rectangle 8"/>
          <p:cNvSpPr/>
          <p:nvPr/>
        </p:nvSpPr>
        <p:spPr>
          <a:xfrm>
            <a:off x="3566160" y="2468880"/>
            <a:ext cx="1828800" cy="1005840"/>
          </a:xfrm>
          <a:prstGeom prst="roundRect">
            <a:avLst/>
          </a:prstGeom>
          <a:solidFill>
            <a:srgbClr val="2A2A2F"/>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300" b="1">
                <a:solidFill>
                  <a:srgbClr val="F77F00"/>
                </a:solidFill>
                <a:latin typeface="Calibri"/>
              </a:defRPr>
            </a:pPr>
            <a:r>
              <a:t>Metrics</a:t>
            </a:r>
          </a:p>
          <a:p>
            <a:pPr algn="ctr">
              <a:spcBef>
                <a:spcPts val="100"/>
              </a:spcBef>
              <a:spcAft>
                <a:spcPts val="200"/>
              </a:spcAft>
              <a:defRPr sz="1100" b="0">
                <a:solidFill>
                  <a:srgbClr val="A0A0A0"/>
                </a:solidFill>
                <a:latin typeface="Calibri"/>
              </a:defRPr>
            </a:pPr>
            <a:r>
              <a:t>Monitor</a:t>
            </a:r>
          </a:p>
        </p:txBody>
      </p:sp>
      <p:sp>
        <p:nvSpPr>
          <p:cNvPr id="10" name="Rounded Rectangle 9"/>
          <p:cNvSpPr/>
          <p:nvPr/>
        </p:nvSpPr>
        <p:spPr>
          <a:xfrm>
            <a:off x="5760720" y="2468880"/>
            <a:ext cx="1828800" cy="1005840"/>
          </a:xfrm>
          <a:prstGeom prst="roundRect">
            <a:avLst/>
          </a:prstGeom>
          <a:solidFill>
            <a:srgbClr val="2A2A2F"/>
          </a:solidFill>
          <a:ln w="2540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300" b="1">
                <a:solidFill>
                  <a:srgbClr val="457B9D"/>
                </a:solidFill>
                <a:latin typeface="Calibri"/>
              </a:defRPr>
            </a:pPr>
            <a:r>
              <a:t>Dependency</a:t>
            </a:r>
          </a:p>
          <a:p>
            <a:pPr algn="ctr">
              <a:spcBef>
                <a:spcPts val="100"/>
              </a:spcBef>
              <a:spcAft>
                <a:spcPts val="200"/>
              </a:spcAft>
              <a:defRPr sz="1100" b="0">
                <a:solidFill>
                  <a:srgbClr val="A0A0A0"/>
                </a:solidFill>
                <a:latin typeface="Calibri"/>
              </a:defRPr>
            </a:pPr>
            <a:r>
              <a:t>Graph</a:t>
            </a:r>
          </a:p>
        </p:txBody>
      </p:sp>
      <p:sp>
        <p:nvSpPr>
          <p:cNvPr id="11" name="Rounded Rectangle 10"/>
          <p:cNvSpPr/>
          <p:nvPr/>
        </p:nvSpPr>
        <p:spPr>
          <a:xfrm>
            <a:off x="7955279" y="2468880"/>
            <a:ext cx="1828800" cy="1005840"/>
          </a:xfrm>
          <a:prstGeom prst="roundRect">
            <a:avLst/>
          </a:prstGeom>
          <a:solidFill>
            <a:srgbClr val="2A2A2F"/>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300" b="1">
                <a:solidFill>
                  <a:srgbClr val="06A77D"/>
                </a:solidFill>
                <a:latin typeface="Calibri"/>
              </a:defRPr>
            </a:pPr>
            <a:r>
              <a:t>Incident</a:t>
            </a:r>
          </a:p>
          <a:p>
            <a:pPr algn="ctr">
              <a:spcBef>
                <a:spcPts val="100"/>
              </a:spcBef>
              <a:spcAft>
                <a:spcPts val="200"/>
              </a:spcAft>
              <a:defRPr sz="1100" b="0">
                <a:solidFill>
                  <a:srgbClr val="A0A0A0"/>
                </a:solidFill>
                <a:latin typeface="Calibri"/>
              </a:defRPr>
            </a:pPr>
            <a:r>
              <a:t>Tracker</a:t>
            </a:r>
          </a:p>
        </p:txBody>
      </p:sp>
      <p:sp>
        <p:nvSpPr>
          <p:cNvPr id="12" name="Rounded Rectangle 11"/>
          <p:cNvSpPr/>
          <p:nvPr/>
        </p:nvSpPr>
        <p:spPr>
          <a:xfrm>
            <a:off x="10149840" y="2468880"/>
            <a:ext cx="1828800" cy="1005840"/>
          </a:xfrm>
          <a:prstGeom prst="roundRect">
            <a:avLst/>
          </a:prstGeom>
          <a:solidFill>
            <a:srgbClr val="2A2A2F"/>
          </a:solidFill>
          <a:ln w="2540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300" b="1">
                <a:solidFill>
                  <a:srgbClr val="7209B7"/>
                </a:solidFill>
                <a:latin typeface="Calibri"/>
              </a:defRPr>
            </a:pPr>
            <a:r>
              <a:t>LLM</a:t>
            </a:r>
          </a:p>
          <a:p>
            <a:pPr algn="ctr">
              <a:spcBef>
                <a:spcPts val="100"/>
              </a:spcBef>
              <a:spcAft>
                <a:spcPts val="200"/>
              </a:spcAft>
              <a:defRPr sz="1100" b="0">
                <a:solidFill>
                  <a:srgbClr val="A0A0A0"/>
                </a:solidFill>
                <a:latin typeface="Calibri"/>
              </a:defRPr>
            </a:pPr>
            <a:r>
              <a:t>(Ollama)</a:t>
            </a:r>
          </a:p>
        </p:txBody>
      </p:sp>
      <p:cxnSp>
        <p:nvCxnSpPr>
          <p:cNvPr id="13" name="Connector 12"/>
          <p:cNvCxnSpPr/>
          <p:nvPr/>
        </p:nvCxnSpPr>
        <p:spPr>
          <a:xfrm>
            <a:off x="2286000" y="2971800"/>
            <a:ext cx="8778240"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095390" y="3520440"/>
            <a:ext cx="0" cy="411480"/>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43200" y="4023360"/>
            <a:ext cx="6705295" cy="64008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500" b="1">
                <a:solidFill>
                  <a:srgbClr val="FFFFFF"/>
                </a:solidFill>
                <a:latin typeface="Calibri"/>
              </a:defRPr>
            </a:pPr>
            <a:r>
              <a:t>AUTO-REMEDIATION LAYER</a:t>
            </a:r>
          </a:p>
        </p:txBody>
      </p:sp>
      <p:cxnSp>
        <p:nvCxnSpPr>
          <p:cNvPr id="16" name="Connector 15"/>
          <p:cNvCxnSpPr/>
          <p:nvPr/>
        </p:nvCxnSpPr>
        <p:spPr>
          <a:xfrm>
            <a:off x="6095390" y="4709160"/>
            <a:ext cx="0" cy="365760"/>
          </a:xfrm>
          <a:prstGeom prst="line">
            <a:avLst/>
          </a:prstGeom>
          <a:ln w="38100">
            <a:solidFill>
              <a:srgbClr val="06A77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828800" y="5120640"/>
            <a:ext cx="8534095" cy="914400"/>
          </a:xfrm>
          <a:prstGeom prst="roundRect">
            <a:avLst/>
          </a:prstGeom>
          <a:solidFill>
            <a:srgbClr val="17171B"/>
          </a:solidFill>
          <a:ln w="2540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400" b="1">
                <a:solidFill>
                  <a:srgbClr val="457B9D"/>
                </a:solidFill>
                <a:latin typeface="Calibri"/>
              </a:defRPr>
            </a:pPr>
            <a:r>
              <a:t>KUBERNETES CLUSTER</a:t>
            </a:r>
          </a:p>
          <a:p>
            <a:pPr algn="ctr">
              <a:spcBef>
                <a:spcPts val="100"/>
              </a:spcBef>
              <a:spcAft>
                <a:spcPts val="200"/>
              </a:spcAft>
              <a:defRPr sz="1200" b="0">
                <a:solidFill>
                  <a:srgbClr val="A0A0A0"/>
                </a:solidFill>
                <a:latin typeface="Calibri"/>
              </a:defRPr>
            </a:pPr>
            <a:r>
              <a:t>12 Microservices  ·  Online Boutique</a:t>
            </a:r>
          </a:p>
        </p:txBody>
      </p:sp>
      <p:sp>
        <p:nvSpPr>
          <p:cNvPr id="18" name="TextBox 17"/>
          <p:cNvSpPr txBox="1"/>
          <p:nvPr/>
        </p:nvSpPr>
        <p:spPr>
          <a:xfrm>
            <a:off x="274320" y="2560320"/>
            <a:ext cx="914400" cy="457200"/>
          </a:xfrm>
          <a:prstGeom prst="rect">
            <a:avLst/>
          </a:prstGeom>
          <a:noFill/>
        </p:spPr>
        <p:txBody>
          <a:bodyPr wrap="square">
            <a:noAutofit/>
          </a:bodyPr>
          <a:lstStyle/>
          <a:p>
            <a:pPr algn="ctr">
              <a:spcBef>
                <a:spcPts val="0"/>
              </a:spcBef>
              <a:spcAft>
                <a:spcPts val="0"/>
              </a:spcAft>
              <a:defRPr sz="1100" b="1">
                <a:solidFill>
                  <a:srgbClr val="A0A0A0"/>
                </a:solidFill>
                <a:latin typeface="Calibri"/>
              </a:defRPr>
            </a:pPr>
            <a:r>
              <a:t>REASON</a:t>
            </a:r>
          </a:p>
        </p:txBody>
      </p:sp>
      <p:sp>
        <p:nvSpPr>
          <p:cNvPr id="19" name="TextBox 18"/>
          <p:cNvSpPr txBox="1"/>
          <p:nvPr/>
        </p:nvSpPr>
        <p:spPr>
          <a:xfrm>
            <a:off x="274320" y="4114800"/>
            <a:ext cx="914400" cy="457200"/>
          </a:xfrm>
          <a:prstGeom prst="rect">
            <a:avLst/>
          </a:prstGeom>
          <a:noFill/>
        </p:spPr>
        <p:txBody>
          <a:bodyPr wrap="square">
            <a:noAutofit/>
          </a:bodyPr>
          <a:lstStyle/>
          <a:p>
            <a:pPr algn="ctr">
              <a:spcBef>
                <a:spcPts val="0"/>
              </a:spcBef>
              <a:spcAft>
                <a:spcPts val="0"/>
              </a:spcAft>
              <a:defRPr sz="1100" b="1">
                <a:solidFill>
                  <a:srgbClr val="A0A0A0"/>
                </a:solidFill>
                <a:latin typeface="Calibri"/>
              </a:defRPr>
            </a:pPr>
            <a:r>
              <a:t>ACT</a:t>
            </a:r>
          </a:p>
        </p:txBody>
      </p:sp>
      <p:sp>
        <p:nvSpPr>
          <p:cNvPr id="20" name="TextBox 19"/>
          <p:cNvSpPr txBox="1"/>
          <p:nvPr/>
        </p:nvSpPr>
        <p:spPr>
          <a:xfrm>
            <a:off x="274320" y="5303520"/>
            <a:ext cx="914400" cy="457200"/>
          </a:xfrm>
          <a:prstGeom prst="rect">
            <a:avLst/>
          </a:prstGeom>
          <a:noFill/>
        </p:spPr>
        <p:txBody>
          <a:bodyPr wrap="square">
            <a:noAutofit/>
          </a:bodyPr>
          <a:lstStyle/>
          <a:p>
            <a:pPr algn="ctr">
              <a:spcBef>
                <a:spcPts val="0"/>
              </a:spcBef>
              <a:spcAft>
                <a:spcPts val="0"/>
              </a:spcAft>
              <a:defRPr sz="1100" b="1">
                <a:solidFill>
                  <a:srgbClr val="A0A0A0"/>
                </a:solidFill>
                <a:latin typeface="Calibri"/>
              </a:defRPr>
            </a:pPr>
            <a:r>
              <a:t>INFRA</a:t>
            </a:r>
          </a:p>
        </p:txBody>
      </p:sp>
      <p:sp>
        <p:nvSpPr>
          <p:cNvPr id="21" name="TextBox 20"/>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From Logs to Root Cause</a:t>
            </a:r>
          </a:p>
        </p:txBody>
      </p:sp>
      <p:sp>
        <p:nvSpPr>
          <p:cNvPr id="5" name="Rounded Rectangle 4"/>
          <p:cNvSpPr/>
          <p:nvPr/>
        </p:nvSpPr>
        <p:spPr>
          <a:xfrm>
            <a:off x="640080" y="1463040"/>
            <a:ext cx="2468880" cy="4114800"/>
          </a:xfrm>
          <a:prstGeom prst="roundRect">
            <a:avLst/>
          </a:prstGeom>
          <a:solidFill>
            <a:srgbClr val="2A2A2F"/>
          </a:solidFill>
          <a:ln w="254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645919" y="1234440"/>
            <a:ext cx="457200" cy="457200"/>
          </a:xfrm>
          <a:prstGeom prst="ellipse">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600" b="1">
                <a:solidFill>
                  <a:srgbClr val="FFFFFF"/>
                </a:solidFill>
                <a:latin typeface="Calibri"/>
              </a:defRPr>
            </a:pPr>
            <a:r>
              <a:t>1</a:t>
            </a:r>
          </a:p>
        </p:txBody>
      </p:sp>
      <p:sp>
        <p:nvSpPr>
          <p:cNvPr id="7" name="TextBox 6"/>
          <p:cNvSpPr txBox="1"/>
          <p:nvPr/>
        </p:nvSpPr>
        <p:spPr>
          <a:xfrm>
            <a:off x="777240" y="1828800"/>
            <a:ext cx="2194560" cy="640080"/>
          </a:xfrm>
          <a:prstGeom prst="rect">
            <a:avLst/>
          </a:prstGeom>
          <a:noFill/>
        </p:spPr>
        <p:txBody>
          <a:bodyPr wrap="square">
            <a:noAutofit/>
          </a:bodyPr>
          <a:lstStyle/>
          <a:p>
            <a:pPr algn="ctr">
              <a:spcBef>
                <a:spcPts val="0"/>
              </a:spcBef>
              <a:spcAft>
                <a:spcPts val="0"/>
              </a:spcAft>
              <a:defRPr sz="1600" b="1">
                <a:solidFill>
                  <a:srgbClr val="E63946"/>
                </a:solidFill>
                <a:latin typeface="Calibri"/>
              </a:defRPr>
            </a:pPr>
            <a:r>
              <a:t>RAW LOGS</a:t>
            </a:r>
          </a:p>
        </p:txBody>
      </p:sp>
      <p:cxnSp>
        <p:nvCxnSpPr>
          <p:cNvPr id="8" name="Connector 7"/>
          <p:cNvCxnSpPr/>
          <p:nvPr/>
        </p:nvCxnSpPr>
        <p:spPr>
          <a:xfrm>
            <a:off x="914400" y="2514600"/>
            <a:ext cx="1920240"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68680" y="265176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onsolas"/>
              </a:defRPr>
            </a:pPr>
            <a:r>
              <a:t>Error: connection refused</a:t>
            </a:r>
          </a:p>
        </p:txBody>
      </p:sp>
      <p:sp>
        <p:nvSpPr>
          <p:cNvPr id="10" name="TextBox 9"/>
          <p:cNvSpPr txBox="1"/>
          <p:nvPr/>
        </p:nvSpPr>
        <p:spPr>
          <a:xfrm>
            <a:off x="868680" y="315468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onsolas"/>
              </a:defRPr>
            </a:pPr>
            <a:r>
              <a:t>HTTP 503 Service Unavail.</a:t>
            </a:r>
          </a:p>
        </p:txBody>
      </p:sp>
      <p:sp>
        <p:nvSpPr>
          <p:cNvPr id="11" name="TextBox 10"/>
          <p:cNvSpPr txBox="1"/>
          <p:nvPr/>
        </p:nvSpPr>
        <p:spPr>
          <a:xfrm>
            <a:off x="868680" y="365760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onsolas"/>
              </a:defRPr>
            </a:pPr>
            <a:r>
              <a:t>SIGTERM received</a:t>
            </a:r>
          </a:p>
        </p:txBody>
      </p:sp>
      <p:sp>
        <p:nvSpPr>
          <p:cNvPr id="12" name="Right Arrow 11"/>
          <p:cNvSpPr/>
          <p:nvPr/>
        </p:nvSpPr>
        <p:spPr>
          <a:xfrm>
            <a:off x="3154680" y="3200400"/>
            <a:ext cx="411480" cy="274320"/>
          </a:xfrm>
          <a:prstGeom prst="rightArrow">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11880" y="1463040"/>
            <a:ext cx="2468880" cy="4114800"/>
          </a:xfrm>
          <a:prstGeom prst="roundRect">
            <a:avLst/>
          </a:prstGeom>
          <a:solidFill>
            <a:srgbClr val="2A2A2F"/>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7720" y="1234440"/>
            <a:ext cx="457200" cy="457200"/>
          </a:xfrm>
          <a:prstGeom prst="ellipse">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600" b="1">
                <a:solidFill>
                  <a:srgbClr val="FFFFFF"/>
                </a:solidFill>
                <a:latin typeface="Calibri"/>
              </a:defRPr>
            </a:pPr>
            <a:r>
              <a:t>2</a:t>
            </a:r>
          </a:p>
        </p:txBody>
      </p:sp>
      <p:sp>
        <p:nvSpPr>
          <p:cNvPr id="15" name="TextBox 14"/>
          <p:cNvSpPr txBox="1"/>
          <p:nvPr/>
        </p:nvSpPr>
        <p:spPr>
          <a:xfrm>
            <a:off x="3749040" y="1828800"/>
            <a:ext cx="2194560" cy="640080"/>
          </a:xfrm>
          <a:prstGeom prst="rect">
            <a:avLst/>
          </a:prstGeom>
          <a:noFill/>
        </p:spPr>
        <p:txBody>
          <a:bodyPr wrap="square">
            <a:noAutofit/>
          </a:bodyPr>
          <a:lstStyle/>
          <a:p>
            <a:pPr algn="ctr">
              <a:spcBef>
                <a:spcPts val="0"/>
              </a:spcBef>
              <a:spcAft>
                <a:spcPts val="0"/>
              </a:spcAft>
              <a:defRPr sz="1600" b="1">
                <a:solidFill>
                  <a:srgbClr val="F77F00"/>
                </a:solidFill>
                <a:latin typeface="Calibri"/>
              </a:defRPr>
            </a:pPr>
            <a:r>
              <a:t>ANALYSIS</a:t>
            </a:r>
          </a:p>
        </p:txBody>
      </p:sp>
      <p:cxnSp>
        <p:nvCxnSpPr>
          <p:cNvPr id="16" name="Connector 15"/>
          <p:cNvCxnSpPr/>
          <p:nvPr/>
        </p:nvCxnSpPr>
        <p:spPr>
          <a:xfrm>
            <a:off x="3886200" y="2514600"/>
            <a:ext cx="1920240"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840480" y="265176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alibri"/>
              </a:defRPr>
            </a:pPr>
            <a:r>
              <a:t>Signal classification</a:t>
            </a:r>
          </a:p>
        </p:txBody>
      </p:sp>
      <p:sp>
        <p:nvSpPr>
          <p:cNvPr id="18" name="TextBox 17"/>
          <p:cNvSpPr txBox="1"/>
          <p:nvPr/>
        </p:nvSpPr>
        <p:spPr>
          <a:xfrm>
            <a:off x="3840480" y="315468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alibri"/>
              </a:defRPr>
            </a:pPr>
            <a:r>
              <a:t>Pattern matching</a:t>
            </a:r>
          </a:p>
        </p:txBody>
      </p:sp>
      <p:sp>
        <p:nvSpPr>
          <p:cNvPr id="19" name="TextBox 18"/>
          <p:cNvSpPr txBox="1"/>
          <p:nvPr/>
        </p:nvSpPr>
        <p:spPr>
          <a:xfrm>
            <a:off x="3840480" y="365760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alibri"/>
              </a:defRPr>
            </a:pPr>
            <a:r>
              <a:t>Severity scoring</a:t>
            </a:r>
          </a:p>
        </p:txBody>
      </p:sp>
      <p:sp>
        <p:nvSpPr>
          <p:cNvPr id="20" name="Right Arrow 19"/>
          <p:cNvSpPr/>
          <p:nvPr/>
        </p:nvSpPr>
        <p:spPr>
          <a:xfrm>
            <a:off x="6126480" y="3200400"/>
            <a:ext cx="411480" cy="274320"/>
          </a:xfrm>
          <a:prstGeom prst="rightArrow">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0" y="1463040"/>
            <a:ext cx="2468880" cy="4114800"/>
          </a:xfrm>
          <a:prstGeom prst="roundRect">
            <a:avLst/>
          </a:prstGeom>
          <a:solidFill>
            <a:srgbClr val="2A2A2F"/>
          </a:solidFill>
          <a:ln w="2540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89520" y="1234440"/>
            <a:ext cx="457200" cy="457200"/>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600" b="1">
                <a:solidFill>
                  <a:srgbClr val="FFFFFF"/>
                </a:solidFill>
                <a:latin typeface="Calibri"/>
              </a:defRPr>
            </a:pPr>
            <a:r>
              <a:t>3</a:t>
            </a:r>
          </a:p>
        </p:txBody>
      </p:sp>
      <p:sp>
        <p:nvSpPr>
          <p:cNvPr id="23" name="TextBox 22"/>
          <p:cNvSpPr txBox="1"/>
          <p:nvPr/>
        </p:nvSpPr>
        <p:spPr>
          <a:xfrm>
            <a:off x="6720840" y="1828800"/>
            <a:ext cx="2194560" cy="640080"/>
          </a:xfrm>
          <a:prstGeom prst="rect">
            <a:avLst/>
          </a:prstGeom>
          <a:noFill/>
        </p:spPr>
        <p:txBody>
          <a:bodyPr wrap="square">
            <a:noAutofit/>
          </a:bodyPr>
          <a:lstStyle/>
          <a:p>
            <a:pPr algn="ctr">
              <a:spcBef>
                <a:spcPts val="0"/>
              </a:spcBef>
              <a:spcAft>
                <a:spcPts val="0"/>
              </a:spcAft>
              <a:defRPr sz="1600" b="1">
                <a:solidFill>
                  <a:srgbClr val="457B9D"/>
                </a:solidFill>
                <a:latin typeface="Calibri"/>
              </a:defRPr>
            </a:pPr>
            <a:r>
              <a:t>DEPENDENCY</a:t>
            </a:r>
            <a:br/>
            <a:r>
              <a:t>TRAVERSAL</a:t>
            </a:r>
          </a:p>
        </p:txBody>
      </p:sp>
      <p:cxnSp>
        <p:nvCxnSpPr>
          <p:cNvPr id="24" name="Connector 23"/>
          <p:cNvCxnSpPr/>
          <p:nvPr/>
        </p:nvCxnSpPr>
        <p:spPr>
          <a:xfrm>
            <a:off x="6858000" y="2514600"/>
            <a:ext cx="1920240"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12280" y="265176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onsolas"/>
              </a:defRPr>
            </a:pPr>
            <a:r>
              <a:t>Frontend →</a:t>
            </a:r>
          </a:p>
        </p:txBody>
      </p:sp>
      <p:sp>
        <p:nvSpPr>
          <p:cNvPr id="26" name="TextBox 25"/>
          <p:cNvSpPr txBox="1"/>
          <p:nvPr/>
        </p:nvSpPr>
        <p:spPr>
          <a:xfrm>
            <a:off x="6812280" y="315468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onsolas"/>
              </a:defRPr>
            </a:pPr>
            <a:r>
              <a:t>  CartService →</a:t>
            </a:r>
          </a:p>
        </p:txBody>
      </p:sp>
      <p:sp>
        <p:nvSpPr>
          <p:cNvPr id="27" name="TextBox 26"/>
          <p:cNvSpPr txBox="1"/>
          <p:nvPr/>
        </p:nvSpPr>
        <p:spPr>
          <a:xfrm>
            <a:off x="6812280" y="365760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onsolas"/>
              </a:defRPr>
            </a:pPr>
            <a:r>
              <a:t>    Redis-Cart ✦</a:t>
            </a:r>
          </a:p>
        </p:txBody>
      </p:sp>
      <p:sp>
        <p:nvSpPr>
          <p:cNvPr id="28" name="Right Arrow 27"/>
          <p:cNvSpPr/>
          <p:nvPr/>
        </p:nvSpPr>
        <p:spPr>
          <a:xfrm>
            <a:off x="9098280" y="3200400"/>
            <a:ext cx="411480" cy="274320"/>
          </a:xfrm>
          <a:prstGeom prst="rightArrow">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555480" y="1463040"/>
            <a:ext cx="2468880" cy="4114800"/>
          </a:xfrm>
          <a:prstGeom prst="roundRect">
            <a:avLst/>
          </a:prstGeom>
          <a:solidFill>
            <a:srgbClr val="2A2A2F"/>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561319" y="1234440"/>
            <a:ext cx="457200" cy="457200"/>
          </a:xfrm>
          <a:prstGeom prst="ellipse">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600" b="1">
                <a:solidFill>
                  <a:srgbClr val="FFFFFF"/>
                </a:solidFill>
                <a:latin typeface="Calibri"/>
              </a:defRPr>
            </a:pPr>
            <a:r>
              <a:t>4</a:t>
            </a:r>
          </a:p>
        </p:txBody>
      </p:sp>
      <p:sp>
        <p:nvSpPr>
          <p:cNvPr id="31" name="TextBox 30"/>
          <p:cNvSpPr txBox="1"/>
          <p:nvPr/>
        </p:nvSpPr>
        <p:spPr>
          <a:xfrm>
            <a:off x="9692640" y="1828800"/>
            <a:ext cx="2194560" cy="640080"/>
          </a:xfrm>
          <a:prstGeom prst="rect">
            <a:avLst/>
          </a:prstGeom>
          <a:noFill/>
        </p:spPr>
        <p:txBody>
          <a:bodyPr wrap="square">
            <a:noAutofit/>
          </a:bodyPr>
          <a:lstStyle/>
          <a:p>
            <a:pPr algn="ctr">
              <a:spcBef>
                <a:spcPts val="0"/>
              </a:spcBef>
              <a:spcAft>
                <a:spcPts val="0"/>
              </a:spcAft>
              <a:defRPr sz="1600" b="1">
                <a:solidFill>
                  <a:srgbClr val="06A77D"/>
                </a:solidFill>
                <a:latin typeface="Calibri"/>
              </a:defRPr>
            </a:pPr>
            <a:r>
              <a:t>ROOT CAUSE</a:t>
            </a:r>
          </a:p>
        </p:txBody>
      </p:sp>
      <p:cxnSp>
        <p:nvCxnSpPr>
          <p:cNvPr id="32" name="Connector 31"/>
          <p:cNvCxnSpPr/>
          <p:nvPr/>
        </p:nvCxnSpPr>
        <p:spPr>
          <a:xfrm>
            <a:off x="9829800" y="2514600"/>
            <a:ext cx="1920239"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784080" y="265176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alibri"/>
              </a:defRPr>
            </a:pPr>
            <a:r>
              <a:t>redis-cart</a:t>
            </a:r>
          </a:p>
        </p:txBody>
      </p:sp>
      <p:sp>
        <p:nvSpPr>
          <p:cNvPr id="34" name="TextBox 33"/>
          <p:cNvSpPr txBox="1"/>
          <p:nvPr/>
        </p:nvSpPr>
        <p:spPr>
          <a:xfrm>
            <a:off x="9784080" y="315468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alibri"/>
              </a:defRPr>
            </a:pPr>
            <a:r>
              <a:t>Confidence: 6/6</a:t>
            </a:r>
          </a:p>
        </p:txBody>
      </p:sp>
      <p:sp>
        <p:nvSpPr>
          <p:cNvPr id="35" name="TextBox 34"/>
          <p:cNvSpPr txBox="1"/>
          <p:nvPr/>
        </p:nvSpPr>
        <p:spPr>
          <a:xfrm>
            <a:off x="9784080" y="3657600"/>
            <a:ext cx="2011680" cy="457200"/>
          </a:xfrm>
          <a:prstGeom prst="rect">
            <a:avLst/>
          </a:prstGeom>
          <a:noFill/>
        </p:spPr>
        <p:txBody>
          <a:bodyPr wrap="square">
            <a:noAutofit/>
          </a:bodyPr>
          <a:lstStyle/>
          <a:p>
            <a:pPr algn="l">
              <a:spcBef>
                <a:spcPts val="0"/>
              </a:spcBef>
              <a:spcAft>
                <a:spcPts val="0"/>
              </a:spcAft>
              <a:defRPr sz="1300" b="0">
                <a:solidFill>
                  <a:srgbClr val="D0D0D0"/>
                </a:solidFill>
                <a:latin typeface="Calibri"/>
              </a:defRPr>
            </a:pPr>
            <a:r>
              <a:t>Rating: HIGH ●</a:t>
            </a:r>
          </a:p>
        </p:txBody>
      </p:sp>
      <p:sp>
        <p:nvSpPr>
          <p:cNvPr id="36" name="Rounded Rectangle 35"/>
          <p:cNvSpPr/>
          <p:nvPr/>
        </p:nvSpPr>
        <p:spPr>
          <a:xfrm>
            <a:off x="2743200" y="5943600"/>
            <a:ext cx="6705295" cy="548640"/>
          </a:xfrm>
          <a:prstGeom prst="roundRect">
            <a:avLst/>
          </a:prstGeom>
          <a:solidFill>
            <a:srgbClr val="17171B"/>
          </a:solidFill>
          <a:ln w="12700">
            <a:solidFill>
              <a:srgbClr val="3A3A4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0">
                <a:solidFill>
                  <a:srgbClr val="A0A0A0"/>
                </a:solidFill>
                <a:latin typeface="Calibri"/>
              </a:defRPr>
            </a:pPr>
            <a:r>
              <a:t>Hybrid Reasoning: Rule-Based Pattern Matching + LLM Analysis</a:t>
            </a:r>
          </a:p>
        </p:txBody>
      </p:sp>
      <p:sp>
        <p:nvSpPr>
          <p:cNvPr id="37" name="TextBox 36"/>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Certainty Gates: Act Only When Confident</a:t>
            </a:r>
          </a:p>
        </p:txBody>
      </p:sp>
      <p:sp>
        <p:nvSpPr>
          <p:cNvPr id="5" name="TextBox 4"/>
          <p:cNvSpPr txBox="1"/>
          <p:nvPr/>
        </p:nvSpPr>
        <p:spPr>
          <a:xfrm>
            <a:off x="731520" y="1188720"/>
            <a:ext cx="4572000" cy="365760"/>
          </a:xfrm>
          <a:prstGeom prst="rect">
            <a:avLst/>
          </a:prstGeom>
          <a:noFill/>
        </p:spPr>
        <p:txBody>
          <a:bodyPr wrap="square">
            <a:noAutofit/>
          </a:bodyPr>
          <a:lstStyle/>
          <a:p>
            <a:pPr algn="l">
              <a:spcBef>
                <a:spcPts val="0"/>
              </a:spcBef>
              <a:spcAft>
                <a:spcPts val="0"/>
              </a:spcAft>
              <a:defRPr sz="1300" b="1">
                <a:solidFill>
                  <a:srgbClr val="A0A0A0"/>
                </a:solidFill>
                <a:latin typeface="Calibri"/>
              </a:defRPr>
            </a:pPr>
            <a:r>
              <a:t>CONFIDENCE SCORING RUBRIC</a:t>
            </a:r>
          </a:p>
        </p:txBody>
      </p:sp>
      <p:sp>
        <p:nvSpPr>
          <p:cNvPr id="6" name="Rounded Rectangle 5"/>
          <p:cNvSpPr/>
          <p:nvPr/>
        </p:nvSpPr>
        <p:spPr>
          <a:xfrm>
            <a:off x="731520" y="1554480"/>
            <a:ext cx="5029200" cy="411480"/>
          </a:xfrm>
          <a:prstGeom prst="roundRect">
            <a:avLst/>
          </a:prstGeom>
          <a:solidFill>
            <a:srgbClr val="3A3A4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Bef>
                <a:spcPts val="100"/>
              </a:spcBef>
              <a:spcAft>
                <a:spcPts val="200"/>
              </a:spcAft>
              <a:defRPr sz="1200" b="1">
                <a:solidFill>
                  <a:srgbClr val="FFFFFF"/>
                </a:solidFill>
                <a:latin typeface="Calibri"/>
              </a:defRPr>
            </a:pPr>
            <a:r>
              <a:t>Signal                                              Points</a:t>
            </a:r>
          </a:p>
        </p:txBody>
      </p:sp>
      <p:sp>
        <p:nvSpPr>
          <p:cNvPr id="7" name="Rounded Rectangle 6"/>
          <p:cNvSpPr/>
          <p:nvPr/>
        </p:nvSpPr>
        <p:spPr>
          <a:xfrm>
            <a:off x="731520" y="2011680"/>
            <a:ext cx="5029200" cy="411480"/>
          </a:xfrm>
          <a:prstGeom prst="roundRect">
            <a:avLst/>
          </a:prstGeom>
          <a:solidFill>
            <a:srgbClr val="2A2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3200400" cy="365760"/>
          </a:xfrm>
          <a:prstGeom prst="rect">
            <a:avLst/>
          </a:prstGeom>
          <a:noFill/>
        </p:spPr>
        <p:txBody>
          <a:bodyPr wrap="square">
            <a:noAutofit/>
          </a:bodyPr>
          <a:lstStyle/>
          <a:p>
            <a:pPr algn="l">
              <a:spcBef>
                <a:spcPts val="0"/>
              </a:spcBef>
              <a:spcAft>
                <a:spcPts val="0"/>
              </a:spcAft>
              <a:defRPr sz="1300" b="0">
                <a:solidFill>
                  <a:srgbClr val="D0D0D0"/>
                </a:solidFill>
                <a:latin typeface="Calibri"/>
              </a:defRPr>
            </a:pPr>
            <a:r>
              <a:t>Service Down</a:t>
            </a:r>
          </a:p>
        </p:txBody>
      </p:sp>
      <p:sp>
        <p:nvSpPr>
          <p:cNvPr id="9" name="Rounded Rectangle 8"/>
          <p:cNvSpPr/>
          <p:nvPr/>
        </p:nvSpPr>
        <p:spPr>
          <a:xfrm>
            <a:off x="4754880" y="2057400"/>
            <a:ext cx="731520" cy="32004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300" b="1">
                <a:solidFill>
                  <a:srgbClr val="FFFFFF"/>
                </a:solidFill>
                <a:latin typeface="Calibri"/>
              </a:defRPr>
            </a:pPr>
            <a:r>
              <a:t>+3</a:t>
            </a:r>
          </a:p>
        </p:txBody>
      </p:sp>
      <p:sp>
        <p:nvSpPr>
          <p:cNvPr id="10" name="Rounded Rectangle 9"/>
          <p:cNvSpPr/>
          <p:nvPr/>
        </p:nvSpPr>
        <p:spPr>
          <a:xfrm>
            <a:off x="731520" y="2468880"/>
            <a:ext cx="5029200" cy="411480"/>
          </a:xfrm>
          <a:prstGeom prst="roundRect">
            <a:avLst/>
          </a:prstGeom>
          <a:solidFill>
            <a:srgbClr val="1717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87168"/>
            <a:ext cx="3200400" cy="365760"/>
          </a:xfrm>
          <a:prstGeom prst="rect">
            <a:avLst/>
          </a:prstGeom>
          <a:noFill/>
        </p:spPr>
        <p:txBody>
          <a:bodyPr wrap="square">
            <a:noAutofit/>
          </a:bodyPr>
          <a:lstStyle/>
          <a:p>
            <a:pPr algn="l">
              <a:spcBef>
                <a:spcPts val="0"/>
              </a:spcBef>
              <a:spcAft>
                <a:spcPts val="0"/>
              </a:spcAft>
              <a:defRPr sz="1300" b="0">
                <a:solidFill>
                  <a:srgbClr val="D0D0D0"/>
                </a:solidFill>
                <a:latin typeface="Calibri"/>
              </a:defRPr>
            </a:pPr>
            <a:r>
              <a:t>Redis Issue Detected</a:t>
            </a:r>
          </a:p>
        </p:txBody>
      </p:sp>
      <p:sp>
        <p:nvSpPr>
          <p:cNvPr id="12" name="Rounded Rectangle 11"/>
          <p:cNvSpPr/>
          <p:nvPr/>
        </p:nvSpPr>
        <p:spPr>
          <a:xfrm>
            <a:off x="4754880" y="2514600"/>
            <a:ext cx="731520" cy="32004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300" b="1">
                <a:solidFill>
                  <a:srgbClr val="FFFFFF"/>
                </a:solidFill>
                <a:latin typeface="Calibri"/>
              </a:defRPr>
            </a:pPr>
            <a:r>
              <a:t>+4</a:t>
            </a:r>
          </a:p>
        </p:txBody>
      </p:sp>
      <p:sp>
        <p:nvSpPr>
          <p:cNvPr id="13" name="Rounded Rectangle 12"/>
          <p:cNvSpPr/>
          <p:nvPr/>
        </p:nvSpPr>
        <p:spPr>
          <a:xfrm>
            <a:off x="731520" y="2926080"/>
            <a:ext cx="5029200" cy="411480"/>
          </a:xfrm>
          <a:prstGeom prst="roundRect">
            <a:avLst/>
          </a:prstGeom>
          <a:solidFill>
            <a:srgbClr val="2A2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944368"/>
            <a:ext cx="3200400" cy="365760"/>
          </a:xfrm>
          <a:prstGeom prst="rect">
            <a:avLst/>
          </a:prstGeom>
          <a:noFill/>
        </p:spPr>
        <p:txBody>
          <a:bodyPr wrap="square">
            <a:noAutofit/>
          </a:bodyPr>
          <a:lstStyle/>
          <a:p>
            <a:pPr algn="l">
              <a:spcBef>
                <a:spcPts val="0"/>
              </a:spcBef>
              <a:spcAft>
                <a:spcPts val="0"/>
              </a:spcAft>
              <a:defRPr sz="1300" b="0">
                <a:solidFill>
                  <a:srgbClr val="D0D0D0"/>
                </a:solidFill>
                <a:latin typeface="Calibri"/>
              </a:defRPr>
            </a:pPr>
            <a:r>
              <a:t>Request Failures</a:t>
            </a:r>
          </a:p>
        </p:txBody>
      </p:sp>
      <p:sp>
        <p:nvSpPr>
          <p:cNvPr id="15" name="Rounded Rectangle 14"/>
          <p:cNvSpPr/>
          <p:nvPr/>
        </p:nvSpPr>
        <p:spPr>
          <a:xfrm>
            <a:off x="4754880" y="2971800"/>
            <a:ext cx="731520" cy="320040"/>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300" b="1">
                <a:solidFill>
                  <a:srgbClr val="FFFFFF"/>
                </a:solidFill>
                <a:latin typeface="Calibri"/>
              </a:defRPr>
            </a:pPr>
            <a:r>
              <a:t>+3</a:t>
            </a:r>
          </a:p>
        </p:txBody>
      </p:sp>
      <p:sp>
        <p:nvSpPr>
          <p:cNvPr id="16" name="Rounded Rectangle 15"/>
          <p:cNvSpPr/>
          <p:nvPr/>
        </p:nvSpPr>
        <p:spPr>
          <a:xfrm>
            <a:off x="731520" y="3383280"/>
            <a:ext cx="5029200" cy="411480"/>
          </a:xfrm>
          <a:prstGeom prst="roundRect">
            <a:avLst/>
          </a:prstGeom>
          <a:solidFill>
            <a:srgbClr val="1717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401568"/>
            <a:ext cx="3200400" cy="365760"/>
          </a:xfrm>
          <a:prstGeom prst="rect">
            <a:avLst/>
          </a:prstGeom>
          <a:noFill/>
        </p:spPr>
        <p:txBody>
          <a:bodyPr wrap="square">
            <a:noAutofit/>
          </a:bodyPr>
          <a:lstStyle/>
          <a:p>
            <a:pPr algn="l">
              <a:spcBef>
                <a:spcPts val="0"/>
              </a:spcBef>
              <a:spcAft>
                <a:spcPts val="0"/>
              </a:spcAft>
              <a:defRPr sz="1300" b="0">
                <a:solidFill>
                  <a:srgbClr val="D0D0D0"/>
                </a:solidFill>
                <a:latin typeface="Calibri"/>
              </a:defRPr>
            </a:pPr>
            <a:r>
              <a:t>Resource Anomaly</a:t>
            </a:r>
          </a:p>
        </p:txBody>
      </p:sp>
      <p:sp>
        <p:nvSpPr>
          <p:cNvPr id="18" name="Rounded Rectangle 17"/>
          <p:cNvSpPr/>
          <p:nvPr/>
        </p:nvSpPr>
        <p:spPr>
          <a:xfrm>
            <a:off x="4754880" y="3429000"/>
            <a:ext cx="731520" cy="320040"/>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300" b="1">
                <a:solidFill>
                  <a:srgbClr val="FFFFFF"/>
                </a:solidFill>
                <a:latin typeface="Calibri"/>
              </a:defRPr>
            </a:pPr>
            <a:r>
              <a:t>+2</a:t>
            </a:r>
          </a:p>
        </p:txBody>
      </p:sp>
      <p:sp>
        <p:nvSpPr>
          <p:cNvPr id="19" name="Rounded Rectangle 18"/>
          <p:cNvSpPr/>
          <p:nvPr/>
        </p:nvSpPr>
        <p:spPr>
          <a:xfrm>
            <a:off x="731520" y="3840480"/>
            <a:ext cx="5029200" cy="411480"/>
          </a:xfrm>
          <a:prstGeom prst="roundRect">
            <a:avLst/>
          </a:prstGeom>
          <a:solidFill>
            <a:srgbClr val="2A2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858768"/>
            <a:ext cx="3200400" cy="365760"/>
          </a:xfrm>
          <a:prstGeom prst="rect">
            <a:avLst/>
          </a:prstGeom>
          <a:noFill/>
        </p:spPr>
        <p:txBody>
          <a:bodyPr wrap="square">
            <a:noAutofit/>
          </a:bodyPr>
          <a:lstStyle/>
          <a:p>
            <a:pPr algn="l">
              <a:spcBef>
                <a:spcPts val="0"/>
              </a:spcBef>
              <a:spcAft>
                <a:spcPts val="0"/>
              </a:spcAft>
              <a:defRPr sz="1300" b="0">
                <a:solidFill>
                  <a:srgbClr val="D0D0D0"/>
                </a:solidFill>
                <a:latin typeface="Calibri"/>
              </a:defRPr>
            </a:pPr>
            <a:r>
              <a:t>Transient Error</a:t>
            </a:r>
          </a:p>
        </p:txBody>
      </p:sp>
      <p:sp>
        <p:nvSpPr>
          <p:cNvPr id="21" name="Rounded Rectangle 20"/>
          <p:cNvSpPr/>
          <p:nvPr/>
        </p:nvSpPr>
        <p:spPr>
          <a:xfrm>
            <a:off x="4754880" y="3886200"/>
            <a:ext cx="731520" cy="320040"/>
          </a:xfrm>
          <a:prstGeom prst="round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300" b="1">
                <a:solidFill>
                  <a:srgbClr val="FFFFFF"/>
                </a:solidFill>
                <a:latin typeface="Calibri"/>
              </a:defRPr>
            </a:pPr>
            <a:r>
              <a:t>+1</a:t>
            </a:r>
          </a:p>
        </p:txBody>
      </p:sp>
      <p:sp>
        <p:nvSpPr>
          <p:cNvPr id="22" name="TextBox 21"/>
          <p:cNvSpPr txBox="1"/>
          <p:nvPr/>
        </p:nvSpPr>
        <p:spPr>
          <a:xfrm>
            <a:off x="6400800" y="1188720"/>
            <a:ext cx="4572000" cy="365760"/>
          </a:xfrm>
          <a:prstGeom prst="rect">
            <a:avLst/>
          </a:prstGeom>
          <a:noFill/>
        </p:spPr>
        <p:txBody>
          <a:bodyPr wrap="square">
            <a:noAutofit/>
          </a:bodyPr>
          <a:lstStyle/>
          <a:p>
            <a:pPr algn="l">
              <a:spcBef>
                <a:spcPts val="0"/>
              </a:spcBef>
              <a:spcAft>
                <a:spcPts val="0"/>
              </a:spcAft>
              <a:defRPr sz="1300" b="1">
                <a:solidFill>
                  <a:srgbClr val="A0A0A0"/>
                </a:solidFill>
                <a:latin typeface="Calibri"/>
              </a:defRPr>
            </a:pPr>
            <a:r>
              <a:t>DECISION GATES</a:t>
            </a:r>
          </a:p>
        </p:txBody>
      </p:sp>
      <p:sp>
        <p:nvSpPr>
          <p:cNvPr id="23" name="Rounded Rectangle 22"/>
          <p:cNvSpPr/>
          <p:nvPr/>
        </p:nvSpPr>
        <p:spPr>
          <a:xfrm>
            <a:off x="6400800" y="1645920"/>
            <a:ext cx="5029200" cy="1188720"/>
          </a:xfrm>
          <a:prstGeom prst="roundRect">
            <a:avLst/>
          </a:prstGeom>
          <a:solidFill>
            <a:srgbClr val="2A2A2F"/>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675120" y="1783080"/>
            <a:ext cx="1097280" cy="41148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HIGH</a:t>
            </a:r>
          </a:p>
        </p:txBody>
      </p:sp>
      <p:sp>
        <p:nvSpPr>
          <p:cNvPr id="25" name="TextBox 24"/>
          <p:cNvSpPr txBox="1"/>
          <p:nvPr/>
        </p:nvSpPr>
        <p:spPr>
          <a:xfrm>
            <a:off x="7955279" y="1783080"/>
            <a:ext cx="1645920" cy="365760"/>
          </a:xfrm>
          <a:prstGeom prst="rect">
            <a:avLst/>
          </a:prstGeom>
          <a:noFill/>
        </p:spPr>
        <p:txBody>
          <a:bodyPr wrap="square">
            <a:noAutofit/>
          </a:bodyPr>
          <a:lstStyle/>
          <a:p>
            <a:pPr algn="l">
              <a:spcBef>
                <a:spcPts val="0"/>
              </a:spcBef>
              <a:spcAft>
                <a:spcPts val="0"/>
              </a:spcAft>
              <a:defRPr sz="1300" b="1">
                <a:solidFill>
                  <a:srgbClr val="D0D0D0"/>
                </a:solidFill>
                <a:latin typeface="Calibri"/>
              </a:defRPr>
            </a:pPr>
            <a:r>
              <a:t>≥ 6 points</a:t>
            </a:r>
          </a:p>
        </p:txBody>
      </p:sp>
      <p:sp>
        <p:nvSpPr>
          <p:cNvPr id="26" name="TextBox 25"/>
          <p:cNvSpPr txBox="1"/>
          <p:nvPr/>
        </p:nvSpPr>
        <p:spPr>
          <a:xfrm>
            <a:off x="9692640" y="1783080"/>
            <a:ext cx="1554480" cy="365760"/>
          </a:xfrm>
          <a:prstGeom prst="rect">
            <a:avLst/>
          </a:prstGeom>
          <a:noFill/>
        </p:spPr>
        <p:txBody>
          <a:bodyPr wrap="square">
            <a:noAutofit/>
          </a:bodyPr>
          <a:lstStyle/>
          <a:p>
            <a:pPr algn="l">
              <a:spcBef>
                <a:spcPts val="0"/>
              </a:spcBef>
              <a:spcAft>
                <a:spcPts val="0"/>
              </a:spcAft>
              <a:defRPr sz="1300" b="1">
                <a:solidFill>
                  <a:srgbClr val="06A77D"/>
                </a:solidFill>
                <a:latin typeface="Calibri"/>
              </a:defRPr>
            </a:pPr>
            <a:r>
              <a:t>Act Immediately</a:t>
            </a:r>
          </a:p>
        </p:txBody>
      </p:sp>
      <p:sp>
        <p:nvSpPr>
          <p:cNvPr id="27" name="TextBox 26"/>
          <p:cNvSpPr txBox="1"/>
          <p:nvPr/>
        </p:nvSpPr>
        <p:spPr>
          <a:xfrm>
            <a:off x="6675120" y="2286000"/>
            <a:ext cx="4389120" cy="365760"/>
          </a:xfrm>
          <a:prstGeom prst="rect">
            <a:avLst/>
          </a:prstGeom>
          <a:noFill/>
        </p:spPr>
        <p:txBody>
          <a:bodyPr wrap="square">
            <a:noAutofit/>
          </a:bodyPr>
          <a:lstStyle/>
          <a:p>
            <a:pPr algn="l">
              <a:spcBef>
                <a:spcPts val="0"/>
              </a:spcBef>
              <a:spcAft>
                <a:spcPts val="0"/>
              </a:spcAft>
              <a:defRPr sz="1200" b="0">
                <a:solidFill>
                  <a:srgbClr val="A0A0A0"/>
                </a:solidFill>
                <a:latin typeface="Calibri"/>
              </a:defRPr>
            </a:pPr>
            <a:r>
              <a:t>Auto-remediate</a:t>
            </a:r>
          </a:p>
        </p:txBody>
      </p:sp>
      <p:sp>
        <p:nvSpPr>
          <p:cNvPr id="28" name="Rounded Rectangle 27"/>
          <p:cNvSpPr/>
          <p:nvPr/>
        </p:nvSpPr>
        <p:spPr>
          <a:xfrm>
            <a:off x="6400800" y="3108960"/>
            <a:ext cx="5029200" cy="1188720"/>
          </a:xfrm>
          <a:prstGeom prst="roundRect">
            <a:avLst/>
          </a:prstGeom>
          <a:solidFill>
            <a:srgbClr val="2A2A2F"/>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675120" y="3246120"/>
            <a:ext cx="1097280" cy="411480"/>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MEDIUM</a:t>
            </a:r>
          </a:p>
        </p:txBody>
      </p:sp>
      <p:sp>
        <p:nvSpPr>
          <p:cNvPr id="30" name="TextBox 29"/>
          <p:cNvSpPr txBox="1"/>
          <p:nvPr/>
        </p:nvSpPr>
        <p:spPr>
          <a:xfrm>
            <a:off x="7955279" y="3246120"/>
            <a:ext cx="1645920" cy="365760"/>
          </a:xfrm>
          <a:prstGeom prst="rect">
            <a:avLst/>
          </a:prstGeom>
          <a:noFill/>
        </p:spPr>
        <p:txBody>
          <a:bodyPr wrap="square">
            <a:noAutofit/>
          </a:bodyPr>
          <a:lstStyle/>
          <a:p>
            <a:pPr algn="l">
              <a:spcBef>
                <a:spcPts val="0"/>
              </a:spcBef>
              <a:spcAft>
                <a:spcPts val="0"/>
              </a:spcAft>
              <a:defRPr sz="1300" b="1">
                <a:solidFill>
                  <a:srgbClr val="D0D0D0"/>
                </a:solidFill>
                <a:latin typeface="Calibri"/>
              </a:defRPr>
            </a:pPr>
            <a:r>
              <a:t>≥ 3 points</a:t>
            </a:r>
          </a:p>
        </p:txBody>
      </p:sp>
      <p:sp>
        <p:nvSpPr>
          <p:cNvPr id="31" name="TextBox 30"/>
          <p:cNvSpPr txBox="1"/>
          <p:nvPr/>
        </p:nvSpPr>
        <p:spPr>
          <a:xfrm>
            <a:off x="9692640" y="3246120"/>
            <a:ext cx="1554480" cy="365760"/>
          </a:xfrm>
          <a:prstGeom prst="rect">
            <a:avLst/>
          </a:prstGeom>
          <a:noFill/>
        </p:spPr>
        <p:txBody>
          <a:bodyPr wrap="square">
            <a:noAutofit/>
          </a:bodyPr>
          <a:lstStyle/>
          <a:p>
            <a:pPr algn="l">
              <a:spcBef>
                <a:spcPts val="0"/>
              </a:spcBef>
              <a:spcAft>
                <a:spcPts val="0"/>
              </a:spcAft>
              <a:defRPr sz="1300" b="1">
                <a:solidFill>
                  <a:srgbClr val="F77F00"/>
                </a:solidFill>
                <a:latin typeface="Calibri"/>
              </a:defRPr>
            </a:pPr>
            <a:r>
              <a:t>Verify First</a:t>
            </a:r>
          </a:p>
        </p:txBody>
      </p:sp>
      <p:sp>
        <p:nvSpPr>
          <p:cNvPr id="32" name="TextBox 31"/>
          <p:cNvSpPr txBox="1"/>
          <p:nvPr/>
        </p:nvSpPr>
        <p:spPr>
          <a:xfrm>
            <a:off x="6675120" y="3749040"/>
            <a:ext cx="4389120" cy="365760"/>
          </a:xfrm>
          <a:prstGeom prst="rect">
            <a:avLst/>
          </a:prstGeom>
          <a:noFill/>
        </p:spPr>
        <p:txBody>
          <a:bodyPr wrap="square">
            <a:noAutofit/>
          </a:bodyPr>
          <a:lstStyle/>
          <a:p>
            <a:pPr algn="l">
              <a:spcBef>
                <a:spcPts val="0"/>
              </a:spcBef>
              <a:spcAft>
                <a:spcPts val="0"/>
              </a:spcAft>
              <a:defRPr sz="1200" b="0">
                <a:solidFill>
                  <a:srgbClr val="A0A0A0"/>
                </a:solidFill>
                <a:latin typeface="Calibri"/>
              </a:defRPr>
            </a:pPr>
            <a:r>
              <a:t>Confirm &amp; remediate</a:t>
            </a:r>
          </a:p>
        </p:txBody>
      </p:sp>
      <p:sp>
        <p:nvSpPr>
          <p:cNvPr id="33" name="Rounded Rectangle 32"/>
          <p:cNvSpPr/>
          <p:nvPr/>
        </p:nvSpPr>
        <p:spPr>
          <a:xfrm>
            <a:off x="6400800" y="4572000"/>
            <a:ext cx="5029200" cy="1188720"/>
          </a:xfrm>
          <a:prstGeom prst="roundRect">
            <a:avLst/>
          </a:prstGeom>
          <a:solidFill>
            <a:srgbClr val="2A2A2F"/>
          </a:solidFill>
          <a:ln w="254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675120" y="4709160"/>
            <a:ext cx="1097280" cy="41148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LOW</a:t>
            </a:r>
          </a:p>
        </p:txBody>
      </p:sp>
      <p:sp>
        <p:nvSpPr>
          <p:cNvPr id="35" name="TextBox 34"/>
          <p:cNvSpPr txBox="1"/>
          <p:nvPr/>
        </p:nvSpPr>
        <p:spPr>
          <a:xfrm>
            <a:off x="7955279" y="4709160"/>
            <a:ext cx="1645920" cy="365760"/>
          </a:xfrm>
          <a:prstGeom prst="rect">
            <a:avLst/>
          </a:prstGeom>
          <a:noFill/>
        </p:spPr>
        <p:txBody>
          <a:bodyPr wrap="square">
            <a:noAutofit/>
          </a:bodyPr>
          <a:lstStyle/>
          <a:p>
            <a:pPr algn="l">
              <a:spcBef>
                <a:spcPts val="0"/>
              </a:spcBef>
              <a:spcAft>
                <a:spcPts val="0"/>
              </a:spcAft>
              <a:defRPr sz="1300" b="1">
                <a:solidFill>
                  <a:srgbClr val="D0D0D0"/>
                </a:solidFill>
                <a:latin typeface="Calibri"/>
              </a:defRPr>
            </a:pPr>
            <a:r>
              <a:t>&lt; 3 points</a:t>
            </a:r>
          </a:p>
        </p:txBody>
      </p:sp>
      <p:sp>
        <p:nvSpPr>
          <p:cNvPr id="36" name="TextBox 35"/>
          <p:cNvSpPr txBox="1"/>
          <p:nvPr/>
        </p:nvSpPr>
        <p:spPr>
          <a:xfrm>
            <a:off x="9692640" y="4709160"/>
            <a:ext cx="1554480" cy="365760"/>
          </a:xfrm>
          <a:prstGeom prst="rect">
            <a:avLst/>
          </a:prstGeom>
          <a:noFill/>
        </p:spPr>
        <p:txBody>
          <a:bodyPr wrap="square">
            <a:noAutofit/>
          </a:bodyPr>
          <a:lstStyle/>
          <a:p>
            <a:pPr algn="l">
              <a:spcBef>
                <a:spcPts val="0"/>
              </a:spcBef>
              <a:spcAft>
                <a:spcPts val="0"/>
              </a:spcAft>
              <a:defRPr sz="1300" b="1">
                <a:solidFill>
                  <a:srgbClr val="E63946"/>
                </a:solidFill>
                <a:latin typeface="Calibri"/>
              </a:defRPr>
            </a:pPr>
            <a:r>
              <a:t>Human Review</a:t>
            </a:r>
          </a:p>
        </p:txBody>
      </p:sp>
      <p:sp>
        <p:nvSpPr>
          <p:cNvPr id="37" name="TextBox 36"/>
          <p:cNvSpPr txBox="1"/>
          <p:nvPr/>
        </p:nvSpPr>
        <p:spPr>
          <a:xfrm>
            <a:off x="6675120" y="5212080"/>
            <a:ext cx="4389120" cy="365760"/>
          </a:xfrm>
          <a:prstGeom prst="rect">
            <a:avLst/>
          </a:prstGeom>
          <a:noFill/>
        </p:spPr>
        <p:txBody>
          <a:bodyPr wrap="square">
            <a:noAutofit/>
          </a:bodyPr>
          <a:lstStyle/>
          <a:p>
            <a:pPr algn="l">
              <a:spcBef>
                <a:spcPts val="0"/>
              </a:spcBef>
              <a:spcAft>
                <a:spcPts val="0"/>
              </a:spcAft>
              <a:defRPr sz="1200" b="0">
                <a:solidFill>
                  <a:srgbClr val="A0A0A0"/>
                </a:solidFill>
                <a:latin typeface="Calibri"/>
              </a:defRPr>
            </a:pPr>
            <a:r>
              <a:t>Escalate to operator</a:t>
            </a:r>
          </a:p>
        </p:txBody>
      </p:sp>
      <p:sp>
        <p:nvSpPr>
          <p:cNvPr id="38" name="Rounded Rectangle 37"/>
          <p:cNvSpPr/>
          <p:nvPr/>
        </p:nvSpPr>
        <p:spPr>
          <a:xfrm>
            <a:off x="2286000" y="5852160"/>
            <a:ext cx="7619695" cy="594360"/>
          </a:xfrm>
          <a:prstGeom prst="roundRect">
            <a:avLst/>
          </a:prstGeom>
          <a:solidFill>
            <a:srgbClr val="17171B"/>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500" b="1">
                <a:solidFill>
                  <a:srgbClr val="06A77D"/>
                </a:solidFill>
                <a:latin typeface="Calibri"/>
              </a:defRPr>
            </a:pPr>
            <a:r>
              <a:t>Result: 4% false positive rate  ·  Prevents action storms  ·  Safe autonomy</a:t>
            </a:r>
          </a:p>
        </p:txBody>
      </p:sp>
      <p:sp>
        <p:nvSpPr>
          <p:cNvPr id="39" name="TextBox 38"/>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Systems That Improve Themselves</a:t>
            </a:r>
          </a:p>
        </p:txBody>
      </p:sp>
      <p:sp>
        <p:nvSpPr>
          <p:cNvPr id="5" name="TextBox 4"/>
          <p:cNvSpPr txBox="1"/>
          <p:nvPr/>
        </p:nvSpPr>
        <p:spPr>
          <a:xfrm>
            <a:off x="731520" y="1005840"/>
            <a:ext cx="10058400" cy="365760"/>
          </a:xfrm>
          <a:prstGeom prst="rect">
            <a:avLst/>
          </a:prstGeom>
          <a:noFill/>
        </p:spPr>
        <p:txBody>
          <a:bodyPr wrap="square">
            <a:noAutofit/>
          </a:bodyPr>
          <a:lstStyle/>
          <a:p>
            <a:pPr algn="l">
              <a:spcBef>
                <a:spcPts val="0"/>
              </a:spcBef>
              <a:spcAft>
                <a:spcPts val="0"/>
              </a:spcAft>
              <a:defRPr sz="1300" b="1">
                <a:solidFill>
                  <a:srgbClr val="A0A0A0"/>
                </a:solidFill>
                <a:latin typeface="Calibri"/>
              </a:defRPr>
            </a:pPr>
            <a:r>
              <a:t>ADAPTIVE FEEDBACK LOOP</a:t>
            </a:r>
          </a:p>
        </p:txBody>
      </p:sp>
      <p:sp>
        <p:nvSpPr>
          <p:cNvPr id="6" name="Rounded Rectangle 5"/>
          <p:cNvSpPr/>
          <p:nvPr/>
        </p:nvSpPr>
        <p:spPr>
          <a:xfrm>
            <a:off x="1828800" y="1554480"/>
            <a:ext cx="2011680" cy="1097280"/>
          </a:xfrm>
          <a:prstGeom prst="roundRect">
            <a:avLst/>
          </a:prstGeom>
          <a:solidFill>
            <a:srgbClr val="2A2A2F"/>
          </a:solidFill>
          <a:ln w="254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400" b="1">
                <a:solidFill>
                  <a:srgbClr val="E63946"/>
                </a:solidFill>
                <a:latin typeface="Calibri"/>
              </a:defRPr>
            </a:pPr>
            <a:r>
              <a:t>Incident</a:t>
            </a:r>
          </a:p>
          <a:p>
            <a:pPr algn="ctr">
              <a:spcBef>
                <a:spcPts val="100"/>
              </a:spcBef>
              <a:spcAft>
                <a:spcPts val="200"/>
              </a:spcAft>
              <a:defRPr sz="1200" b="0">
                <a:solidFill>
                  <a:srgbClr val="D0D0D0"/>
                </a:solidFill>
                <a:latin typeface="Calibri"/>
              </a:defRPr>
            </a:pPr>
            <a:r>
              <a:t>Occurs</a:t>
            </a:r>
          </a:p>
        </p:txBody>
      </p:sp>
      <p:sp>
        <p:nvSpPr>
          <p:cNvPr id="7" name="Rounded Rectangle 6"/>
          <p:cNvSpPr/>
          <p:nvPr/>
        </p:nvSpPr>
        <p:spPr>
          <a:xfrm>
            <a:off x="5029200" y="1554480"/>
            <a:ext cx="2011680" cy="1097280"/>
          </a:xfrm>
          <a:prstGeom prst="roundRect">
            <a:avLst/>
          </a:prstGeom>
          <a:solidFill>
            <a:srgbClr val="2A2A2F"/>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400" b="1">
                <a:solidFill>
                  <a:srgbClr val="F77F00"/>
                </a:solidFill>
                <a:latin typeface="Calibri"/>
              </a:defRPr>
            </a:pPr>
            <a:r>
              <a:t>Evaluate</a:t>
            </a:r>
          </a:p>
          <a:p>
            <a:pPr algn="ctr">
              <a:spcBef>
                <a:spcPts val="100"/>
              </a:spcBef>
              <a:spcAft>
                <a:spcPts val="200"/>
              </a:spcAft>
              <a:defRPr sz="1200" b="0">
                <a:solidFill>
                  <a:srgbClr val="D0D0D0"/>
                </a:solidFill>
                <a:latin typeface="Calibri"/>
              </a:defRPr>
            </a:pPr>
            <a:r>
              <a:t>Options</a:t>
            </a:r>
          </a:p>
        </p:txBody>
      </p:sp>
      <p:sp>
        <p:nvSpPr>
          <p:cNvPr id="8" name="Rounded Rectangle 7"/>
          <p:cNvSpPr/>
          <p:nvPr/>
        </p:nvSpPr>
        <p:spPr>
          <a:xfrm>
            <a:off x="8229600" y="1554480"/>
            <a:ext cx="2011680" cy="1097280"/>
          </a:xfrm>
          <a:prstGeom prst="roundRect">
            <a:avLst/>
          </a:prstGeom>
          <a:solidFill>
            <a:srgbClr val="2A2A2F"/>
          </a:solidFill>
          <a:ln w="2540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400" b="1">
                <a:solidFill>
                  <a:srgbClr val="7209B7"/>
                </a:solidFill>
                <a:latin typeface="Calibri"/>
              </a:defRPr>
            </a:pPr>
            <a:r>
              <a:t>ML</a:t>
            </a:r>
          </a:p>
          <a:p>
            <a:pPr algn="ctr">
              <a:spcBef>
                <a:spcPts val="100"/>
              </a:spcBef>
              <a:spcAft>
                <a:spcPts val="200"/>
              </a:spcAft>
              <a:defRPr sz="1200" b="0">
                <a:solidFill>
                  <a:srgbClr val="D0D0D0"/>
                </a:solidFill>
                <a:latin typeface="Calibri"/>
              </a:defRPr>
            </a:pPr>
            <a:r>
              <a:t>Selector</a:t>
            </a:r>
          </a:p>
        </p:txBody>
      </p:sp>
      <p:sp>
        <p:nvSpPr>
          <p:cNvPr id="9" name="Rounded Rectangle 8"/>
          <p:cNvSpPr/>
          <p:nvPr/>
        </p:nvSpPr>
        <p:spPr>
          <a:xfrm>
            <a:off x="8229600" y="3840480"/>
            <a:ext cx="2011680" cy="1097280"/>
          </a:xfrm>
          <a:prstGeom prst="roundRect">
            <a:avLst/>
          </a:prstGeom>
          <a:solidFill>
            <a:srgbClr val="2A2A2F"/>
          </a:solidFill>
          <a:ln w="2540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400" b="1">
                <a:solidFill>
                  <a:srgbClr val="457B9D"/>
                </a:solidFill>
                <a:latin typeface="Calibri"/>
              </a:defRPr>
            </a:pPr>
            <a:r>
              <a:t>Execute</a:t>
            </a:r>
          </a:p>
          <a:p>
            <a:pPr algn="ctr">
              <a:spcBef>
                <a:spcPts val="100"/>
              </a:spcBef>
              <a:spcAft>
                <a:spcPts val="200"/>
              </a:spcAft>
              <a:defRPr sz="1200" b="0">
                <a:solidFill>
                  <a:srgbClr val="D0D0D0"/>
                </a:solidFill>
                <a:latin typeface="Calibri"/>
              </a:defRPr>
            </a:pPr>
            <a:r>
              <a:t>Action</a:t>
            </a:r>
          </a:p>
        </p:txBody>
      </p:sp>
      <p:sp>
        <p:nvSpPr>
          <p:cNvPr id="10" name="Rounded Rectangle 9"/>
          <p:cNvSpPr/>
          <p:nvPr/>
        </p:nvSpPr>
        <p:spPr>
          <a:xfrm>
            <a:off x="5029200" y="3840480"/>
            <a:ext cx="2011680" cy="1097280"/>
          </a:xfrm>
          <a:prstGeom prst="roundRect">
            <a:avLst/>
          </a:prstGeom>
          <a:solidFill>
            <a:srgbClr val="2A2A2F"/>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400" b="1">
                <a:solidFill>
                  <a:srgbClr val="06A77D"/>
                </a:solidFill>
                <a:latin typeface="Calibri"/>
              </a:defRPr>
            </a:pPr>
            <a:r>
              <a:t>Log</a:t>
            </a:r>
          </a:p>
          <a:p>
            <a:pPr algn="ctr">
              <a:spcBef>
                <a:spcPts val="100"/>
              </a:spcBef>
              <a:spcAft>
                <a:spcPts val="200"/>
              </a:spcAft>
              <a:defRPr sz="1200" b="0">
                <a:solidFill>
                  <a:srgbClr val="D0D0D0"/>
                </a:solidFill>
                <a:latin typeface="Calibri"/>
              </a:defRPr>
            </a:pPr>
            <a:r>
              <a:t>Outcome</a:t>
            </a:r>
          </a:p>
        </p:txBody>
      </p:sp>
      <p:sp>
        <p:nvSpPr>
          <p:cNvPr id="11" name="Rounded Rectangle 10"/>
          <p:cNvSpPr/>
          <p:nvPr/>
        </p:nvSpPr>
        <p:spPr>
          <a:xfrm>
            <a:off x="1828800" y="3840480"/>
            <a:ext cx="2011680" cy="1097280"/>
          </a:xfrm>
          <a:prstGeom prst="roundRect">
            <a:avLst/>
          </a:prstGeom>
          <a:solidFill>
            <a:srgbClr val="2A2A2F"/>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400" b="1">
                <a:solidFill>
                  <a:srgbClr val="F77F00"/>
                </a:solidFill>
                <a:latin typeface="Calibri"/>
              </a:defRPr>
            </a:pPr>
            <a:r>
              <a:t>Update</a:t>
            </a:r>
          </a:p>
          <a:p>
            <a:pPr algn="ctr">
              <a:spcBef>
                <a:spcPts val="100"/>
              </a:spcBef>
              <a:spcAft>
                <a:spcPts val="200"/>
              </a:spcAft>
              <a:defRPr sz="1200" b="0">
                <a:solidFill>
                  <a:srgbClr val="D0D0D0"/>
                </a:solidFill>
                <a:latin typeface="Calibri"/>
              </a:defRPr>
            </a:pPr>
            <a:r>
              <a:t>Success Rates</a:t>
            </a:r>
          </a:p>
        </p:txBody>
      </p:sp>
      <p:sp>
        <p:nvSpPr>
          <p:cNvPr id="12" name="Right Arrow 11"/>
          <p:cNvSpPr/>
          <p:nvPr/>
        </p:nvSpPr>
        <p:spPr>
          <a:xfrm>
            <a:off x="3886200" y="1965960"/>
            <a:ext cx="457200" cy="274320"/>
          </a:xfrm>
          <a:prstGeom prst="rightArrow">
            <a:avLst/>
          </a:prstGeom>
          <a:solidFill>
            <a:srgbClr val="3A3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086600" y="1965960"/>
            <a:ext cx="457200" cy="274320"/>
          </a:xfrm>
          <a:prstGeom prst="rightArrow">
            <a:avLst/>
          </a:prstGeom>
          <a:solidFill>
            <a:srgbClr val="3A3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9235440" y="2697480"/>
            <a:ext cx="0" cy="1097280"/>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995160" y="4251960"/>
            <a:ext cx="91440" cy="0"/>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840480" y="4251960"/>
            <a:ext cx="45720" cy="0"/>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834640" y="2743200"/>
            <a:ext cx="0" cy="1051560"/>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74720" y="2880360"/>
            <a:ext cx="5120640" cy="731520"/>
          </a:xfrm>
          <a:prstGeom prst="roundRect">
            <a:avLst/>
          </a:prstGeom>
          <a:solidFill>
            <a:srgbClr val="17171B"/>
          </a:solidFill>
          <a:ln w="1905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300" b="1">
                <a:solidFill>
                  <a:srgbClr val="06A77D"/>
                </a:solidFill>
                <a:latin typeface="Calibri"/>
              </a:defRPr>
            </a:pPr>
            <a:r>
              <a:t>Live Success Rates</a:t>
            </a:r>
          </a:p>
          <a:p>
            <a:pPr algn="ctr">
              <a:spcBef>
                <a:spcPts val="100"/>
              </a:spcBef>
              <a:spcAft>
                <a:spcPts val="200"/>
              </a:spcAft>
              <a:defRPr sz="1200" b="0">
                <a:solidFill>
                  <a:srgbClr val="D0D0D0"/>
                </a:solidFill>
                <a:latin typeface="Calibri"/>
              </a:defRPr>
            </a:pPr>
            <a:r>
              <a:t>Restart: 60% (5 incidents)  ·  Scale-up: 100% (43 incidents)</a:t>
            </a:r>
          </a:p>
        </p:txBody>
      </p:sp>
      <p:sp>
        <p:nvSpPr>
          <p:cNvPr id="19" name="TextBox 18"/>
          <p:cNvSpPr txBox="1"/>
          <p:nvPr/>
        </p:nvSpPr>
        <p:spPr>
          <a:xfrm>
            <a:off x="1371600" y="5303520"/>
            <a:ext cx="9448495" cy="731520"/>
          </a:xfrm>
          <a:prstGeom prst="rect">
            <a:avLst/>
          </a:prstGeom>
          <a:noFill/>
        </p:spPr>
        <p:txBody>
          <a:bodyPr wrap="square">
            <a:noAutofit/>
          </a:bodyPr>
          <a:lstStyle/>
          <a:p>
            <a:pPr algn="ctr">
              <a:spcBef>
                <a:spcPts val="0"/>
              </a:spcBef>
              <a:spcAft>
                <a:spcPts val="0"/>
              </a:spcAft>
              <a:defRPr sz="1400" b="0">
                <a:solidFill>
                  <a:srgbClr val="A0A0A0"/>
                </a:solidFill>
                <a:latin typeface="Calibri"/>
              </a:defRPr>
            </a:pPr>
            <a:r>
              <a:t>Different services respond differently to different remediation strategies.</a:t>
            </a:r>
            <a:br/>
            <a:r>
              <a:t>The system learns these patterns and selects the highest-probability action.</a:t>
            </a:r>
          </a:p>
        </p:txBody>
      </p:sp>
      <p:sp>
        <p:nvSpPr>
          <p:cNvPr id="20" name="TextBox 19"/>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From Detection to Recovery: Fully Autonomous</a:t>
            </a:r>
          </a:p>
        </p:txBody>
      </p:sp>
      <p:sp>
        <p:nvSpPr>
          <p:cNvPr id="5" name="TextBox 4"/>
          <p:cNvSpPr txBox="1"/>
          <p:nvPr/>
        </p:nvSpPr>
        <p:spPr>
          <a:xfrm>
            <a:off x="731520" y="1371600"/>
            <a:ext cx="914400" cy="365760"/>
          </a:xfrm>
          <a:prstGeom prst="rect">
            <a:avLst/>
          </a:prstGeom>
          <a:noFill/>
        </p:spPr>
        <p:txBody>
          <a:bodyPr wrap="square">
            <a:noAutofit/>
          </a:bodyPr>
          <a:lstStyle/>
          <a:p>
            <a:pPr algn="r">
              <a:spcBef>
                <a:spcPts val="0"/>
              </a:spcBef>
              <a:spcAft>
                <a:spcPts val="0"/>
              </a:spcAft>
              <a:defRPr sz="1400" b="1">
                <a:solidFill>
                  <a:srgbClr val="E63946"/>
                </a:solidFill>
                <a:latin typeface="Consolas"/>
              </a:defRPr>
            </a:pPr>
            <a:r>
              <a:t>T0:00</a:t>
            </a:r>
          </a:p>
        </p:txBody>
      </p:sp>
      <p:sp>
        <p:nvSpPr>
          <p:cNvPr id="6" name="Oval 5"/>
          <p:cNvSpPr/>
          <p:nvPr/>
        </p:nvSpPr>
        <p:spPr>
          <a:xfrm>
            <a:off x="1874519" y="1417320"/>
            <a:ext cx="274320" cy="274320"/>
          </a:xfrm>
          <a:prstGeom prst="ellipse">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2011680" y="1719072"/>
            <a:ext cx="0" cy="448056"/>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377440" y="1325880"/>
            <a:ext cx="4389120" cy="502920"/>
          </a:xfrm>
          <a:prstGeom prst="roundRect">
            <a:avLst/>
          </a:prstGeom>
          <a:solidFill>
            <a:srgbClr val="2A2A2F"/>
          </a:solidFill>
          <a:ln w="1905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Bef>
                <a:spcPts val="100"/>
              </a:spcBef>
              <a:spcAft>
                <a:spcPts val="200"/>
              </a:spcAft>
              <a:defRPr sz="1300" b="0">
                <a:solidFill>
                  <a:srgbClr val="FFFFFF"/>
                </a:solidFill>
                <a:latin typeface="Calibri"/>
              </a:defRPr>
            </a:pPr>
            <a:r>
              <a:t>DETECT  —  Anomaly detected in logs</a:t>
            </a:r>
          </a:p>
        </p:txBody>
      </p:sp>
      <p:sp>
        <p:nvSpPr>
          <p:cNvPr id="9" name="TextBox 8"/>
          <p:cNvSpPr txBox="1"/>
          <p:nvPr/>
        </p:nvSpPr>
        <p:spPr>
          <a:xfrm>
            <a:off x="731520" y="2194560"/>
            <a:ext cx="914400" cy="365760"/>
          </a:xfrm>
          <a:prstGeom prst="rect">
            <a:avLst/>
          </a:prstGeom>
          <a:noFill/>
        </p:spPr>
        <p:txBody>
          <a:bodyPr wrap="square">
            <a:noAutofit/>
          </a:bodyPr>
          <a:lstStyle/>
          <a:p>
            <a:pPr algn="r">
              <a:spcBef>
                <a:spcPts val="0"/>
              </a:spcBef>
              <a:spcAft>
                <a:spcPts val="0"/>
              </a:spcAft>
              <a:defRPr sz="1400" b="1">
                <a:solidFill>
                  <a:srgbClr val="F77F00"/>
                </a:solidFill>
                <a:latin typeface="Consolas"/>
              </a:defRPr>
            </a:pPr>
            <a:r>
              <a:t>T0:02</a:t>
            </a:r>
          </a:p>
        </p:txBody>
      </p:sp>
      <p:sp>
        <p:nvSpPr>
          <p:cNvPr id="10" name="Oval 9"/>
          <p:cNvSpPr/>
          <p:nvPr/>
        </p:nvSpPr>
        <p:spPr>
          <a:xfrm>
            <a:off x="1874519" y="2240279"/>
            <a:ext cx="274320" cy="274320"/>
          </a:xfrm>
          <a:prstGeom prst="ellipse">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2011680" y="2542032"/>
            <a:ext cx="0" cy="448056"/>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377440" y="2148840"/>
            <a:ext cx="4389120" cy="502920"/>
          </a:xfrm>
          <a:prstGeom prst="roundRect">
            <a:avLst/>
          </a:prstGeom>
          <a:solidFill>
            <a:srgbClr val="2A2A2F"/>
          </a:solidFill>
          <a:ln w="1905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Bef>
                <a:spcPts val="100"/>
              </a:spcBef>
              <a:spcAft>
                <a:spcPts val="200"/>
              </a:spcAft>
              <a:defRPr sz="1300" b="0">
                <a:solidFill>
                  <a:srgbClr val="FFFFFF"/>
                </a:solidFill>
                <a:latin typeface="Calibri"/>
              </a:defRPr>
            </a:pPr>
            <a:r>
              <a:t>ANALYZE  —  Root cause analysis (RCA)</a:t>
            </a:r>
          </a:p>
        </p:txBody>
      </p:sp>
      <p:sp>
        <p:nvSpPr>
          <p:cNvPr id="13" name="TextBox 12"/>
          <p:cNvSpPr txBox="1"/>
          <p:nvPr/>
        </p:nvSpPr>
        <p:spPr>
          <a:xfrm>
            <a:off x="731520" y="3017520"/>
            <a:ext cx="914400" cy="365760"/>
          </a:xfrm>
          <a:prstGeom prst="rect">
            <a:avLst/>
          </a:prstGeom>
          <a:noFill/>
        </p:spPr>
        <p:txBody>
          <a:bodyPr wrap="square">
            <a:noAutofit/>
          </a:bodyPr>
          <a:lstStyle/>
          <a:p>
            <a:pPr algn="r">
              <a:spcBef>
                <a:spcPts val="0"/>
              </a:spcBef>
              <a:spcAft>
                <a:spcPts val="0"/>
              </a:spcAft>
              <a:defRPr sz="1400" b="1">
                <a:solidFill>
                  <a:srgbClr val="7209B7"/>
                </a:solidFill>
                <a:latin typeface="Consolas"/>
              </a:defRPr>
            </a:pPr>
            <a:r>
              <a:t>T0:05</a:t>
            </a:r>
          </a:p>
        </p:txBody>
      </p:sp>
      <p:sp>
        <p:nvSpPr>
          <p:cNvPr id="14" name="Oval 13"/>
          <p:cNvSpPr/>
          <p:nvPr/>
        </p:nvSpPr>
        <p:spPr>
          <a:xfrm>
            <a:off x="1874519" y="3063239"/>
            <a:ext cx="274320" cy="274320"/>
          </a:xfrm>
          <a:prstGeom prst="ellipse">
            <a:avLst/>
          </a:prstGeom>
          <a:solidFill>
            <a:srgbClr val="7209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2011680" y="3364991"/>
            <a:ext cx="0" cy="448057"/>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377440" y="2971800"/>
            <a:ext cx="4389120" cy="502920"/>
          </a:xfrm>
          <a:prstGeom prst="roundRect">
            <a:avLst/>
          </a:prstGeom>
          <a:solidFill>
            <a:srgbClr val="2A2A2F"/>
          </a:solidFill>
          <a:ln w="1905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Bef>
                <a:spcPts val="100"/>
              </a:spcBef>
              <a:spcAft>
                <a:spcPts val="200"/>
              </a:spcAft>
              <a:defRPr sz="1300" b="0">
                <a:solidFill>
                  <a:srgbClr val="FFFFFF"/>
                </a:solidFill>
                <a:latin typeface="Calibri"/>
              </a:defRPr>
            </a:pPr>
            <a:r>
              <a:t>DECIDE  —  ML strategy selection</a:t>
            </a:r>
          </a:p>
        </p:txBody>
      </p:sp>
      <p:sp>
        <p:nvSpPr>
          <p:cNvPr id="17" name="TextBox 16"/>
          <p:cNvSpPr txBox="1"/>
          <p:nvPr/>
        </p:nvSpPr>
        <p:spPr>
          <a:xfrm>
            <a:off x="731520" y="3840480"/>
            <a:ext cx="914400" cy="365760"/>
          </a:xfrm>
          <a:prstGeom prst="rect">
            <a:avLst/>
          </a:prstGeom>
          <a:noFill/>
        </p:spPr>
        <p:txBody>
          <a:bodyPr wrap="square">
            <a:noAutofit/>
          </a:bodyPr>
          <a:lstStyle/>
          <a:p>
            <a:pPr algn="r">
              <a:spcBef>
                <a:spcPts val="0"/>
              </a:spcBef>
              <a:spcAft>
                <a:spcPts val="0"/>
              </a:spcAft>
              <a:defRPr sz="1400" b="1">
                <a:solidFill>
                  <a:srgbClr val="457B9D"/>
                </a:solidFill>
                <a:latin typeface="Consolas"/>
              </a:defRPr>
            </a:pPr>
            <a:r>
              <a:t>T0:06</a:t>
            </a:r>
          </a:p>
        </p:txBody>
      </p:sp>
      <p:sp>
        <p:nvSpPr>
          <p:cNvPr id="18" name="Oval 17"/>
          <p:cNvSpPr/>
          <p:nvPr/>
        </p:nvSpPr>
        <p:spPr>
          <a:xfrm>
            <a:off x="1874519" y="3886200"/>
            <a:ext cx="274320" cy="274320"/>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011680" y="4187952"/>
            <a:ext cx="0" cy="448056"/>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377440" y="3794760"/>
            <a:ext cx="4389120" cy="502920"/>
          </a:xfrm>
          <a:prstGeom prst="roundRect">
            <a:avLst/>
          </a:prstGeom>
          <a:solidFill>
            <a:srgbClr val="2A2A2F"/>
          </a:solidFill>
          <a:ln w="1905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Bef>
                <a:spcPts val="100"/>
              </a:spcBef>
              <a:spcAft>
                <a:spcPts val="200"/>
              </a:spcAft>
              <a:defRPr sz="1300" b="0">
                <a:solidFill>
                  <a:srgbClr val="FFFFFF"/>
                </a:solidFill>
                <a:latin typeface="Calibri"/>
              </a:defRPr>
            </a:pPr>
            <a:r>
              <a:t>REMEDIATE  —  Execute auto-fix</a:t>
            </a:r>
          </a:p>
        </p:txBody>
      </p:sp>
      <p:sp>
        <p:nvSpPr>
          <p:cNvPr id="21" name="TextBox 20"/>
          <p:cNvSpPr txBox="1"/>
          <p:nvPr/>
        </p:nvSpPr>
        <p:spPr>
          <a:xfrm>
            <a:off x="731520" y="4663440"/>
            <a:ext cx="914400" cy="365760"/>
          </a:xfrm>
          <a:prstGeom prst="rect">
            <a:avLst/>
          </a:prstGeom>
          <a:noFill/>
        </p:spPr>
        <p:txBody>
          <a:bodyPr wrap="square">
            <a:noAutofit/>
          </a:bodyPr>
          <a:lstStyle/>
          <a:p>
            <a:pPr algn="r">
              <a:spcBef>
                <a:spcPts val="0"/>
              </a:spcBef>
              <a:spcAft>
                <a:spcPts val="0"/>
              </a:spcAft>
              <a:defRPr sz="1400" b="1">
                <a:solidFill>
                  <a:srgbClr val="06A77D"/>
                </a:solidFill>
                <a:latin typeface="Consolas"/>
              </a:defRPr>
            </a:pPr>
            <a:r>
              <a:t>T0:10</a:t>
            </a:r>
          </a:p>
        </p:txBody>
      </p:sp>
      <p:sp>
        <p:nvSpPr>
          <p:cNvPr id="22" name="Oval 21"/>
          <p:cNvSpPr/>
          <p:nvPr/>
        </p:nvSpPr>
        <p:spPr>
          <a:xfrm>
            <a:off x="1874519" y="4709159"/>
            <a:ext cx="274320" cy="274320"/>
          </a:xfrm>
          <a:prstGeom prst="ellipse">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2011680" y="5010912"/>
            <a:ext cx="0" cy="448056"/>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377440" y="4617720"/>
            <a:ext cx="4389120" cy="502920"/>
          </a:xfrm>
          <a:prstGeom prst="roundRect">
            <a:avLst/>
          </a:prstGeom>
          <a:solidFill>
            <a:srgbClr val="2A2A2F"/>
          </a:solidFill>
          <a:ln w="1905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Bef>
                <a:spcPts val="100"/>
              </a:spcBef>
              <a:spcAft>
                <a:spcPts val="200"/>
              </a:spcAft>
              <a:defRPr sz="1300" b="0">
                <a:solidFill>
                  <a:srgbClr val="FFFFFF"/>
                </a:solidFill>
                <a:latin typeface="Calibri"/>
              </a:defRPr>
            </a:pPr>
            <a:r>
              <a:t>VERIFY  —  Confirm service health</a:t>
            </a:r>
          </a:p>
        </p:txBody>
      </p:sp>
      <p:sp>
        <p:nvSpPr>
          <p:cNvPr id="25" name="TextBox 24"/>
          <p:cNvSpPr txBox="1"/>
          <p:nvPr/>
        </p:nvSpPr>
        <p:spPr>
          <a:xfrm>
            <a:off x="731520" y="5486400"/>
            <a:ext cx="914400" cy="365760"/>
          </a:xfrm>
          <a:prstGeom prst="rect">
            <a:avLst/>
          </a:prstGeom>
          <a:noFill/>
        </p:spPr>
        <p:txBody>
          <a:bodyPr wrap="square">
            <a:noAutofit/>
          </a:bodyPr>
          <a:lstStyle/>
          <a:p>
            <a:pPr algn="r">
              <a:spcBef>
                <a:spcPts val="0"/>
              </a:spcBef>
              <a:spcAft>
                <a:spcPts val="0"/>
              </a:spcAft>
              <a:defRPr sz="1400" b="1">
                <a:solidFill>
                  <a:srgbClr val="06A77D"/>
                </a:solidFill>
                <a:latin typeface="Consolas"/>
              </a:defRPr>
            </a:pPr>
            <a:r>
              <a:t>T0:15</a:t>
            </a:r>
          </a:p>
        </p:txBody>
      </p:sp>
      <p:sp>
        <p:nvSpPr>
          <p:cNvPr id="26" name="Oval 25"/>
          <p:cNvSpPr/>
          <p:nvPr/>
        </p:nvSpPr>
        <p:spPr>
          <a:xfrm>
            <a:off x="1874519" y="5532120"/>
            <a:ext cx="274320" cy="274320"/>
          </a:xfrm>
          <a:prstGeom prst="ellipse">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377440" y="5440680"/>
            <a:ext cx="4389120" cy="502920"/>
          </a:xfrm>
          <a:prstGeom prst="roundRect">
            <a:avLst/>
          </a:prstGeom>
          <a:solidFill>
            <a:srgbClr val="2A2A2F"/>
          </a:solidFill>
          <a:ln w="1905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Bef>
                <a:spcPts val="100"/>
              </a:spcBef>
              <a:spcAft>
                <a:spcPts val="200"/>
              </a:spcAft>
              <a:defRPr sz="1300" b="0">
                <a:solidFill>
                  <a:srgbClr val="FFFFFF"/>
                </a:solidFill>
                <a:latin typeface="Calibri"/>
              </a:defRPr>
            </a:pPr>
            <a:r>
              <a:t>LEARN  —  Log outcome &amp; update model</a:t>
            </a:r>
          </a:p>
        </p:txBody>
      </p:sp>
      <p:sp>
        <p:nvSpPr>
          <p:cNvPr id="28" name="Rounded Rectangle 27"/>
          <p:cNvSpPr/>
          <p:nvPr/>
        </p:nvSpPr>
        <p:spPr>
          <a:xfrm>
            <a:off x="7315200" y="1371600"/>
            <a:ext cx="4389120" cy="3200400"/>
          </a:xfrm>
          <a:prstGeom prst="roundRect">
            <a:avLst/>
          </a:prstGeom>
          <a:solidFill>
            <a:srgbClr val="2A2A2F"/>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79" y="1554480"/>
            <a:ext cx="4023360" cy="365760"/>
          </a:xfrm>
          <a:prstGeom prst="rect">
            <a:avLst/>
          </a:prstGeom>
          <a:noFill/>
        </p:spPr>
        <p:txBody>
          <a:bodyPr wrap="square">
            <a:noAutofit/>
          </a:bodyPr>
          <a:lstStyle/>
          <a:p>
            <a:pPr algn="ctr">
              <a:spcBef>
                <a:spcPts val="0"/>
              </a:spcBef>
              <a:spcAft>
                <a:spcPts val="0"/>
              </a:spcAft>
              <a:defRPr sz="1300" b="1">
                <a:solidFill>
                  <a:srgbClr val="A0A0A0"/>
                </a:solidFill>
                <a:latin typeface="Calibri"/>
              </a:defRPr>
            </a:pPr>
            <a:r>
              <a:t>MTTR COMPARISON</a:t>
            </a:r>
          </a:p>
        </p:txBody>
      </p:sp>
      <p:sp>
        <p:nvSpPr>
          <p:cNvPr id="30" name="TextBox 29"/>
          <p:cNvSpPr txBox="1"/>
          <p:nvPr/>
        </p:nvSpPr>
        <p:spPr>
          <a:xfrm>
            <a:off x="7680960" y="2103120"/>
            <a:ext cx="3657600" cy="274320"/>
          </a:xfrm>
          <a:prstGeom prst="rect">
            <a:avLst/>
          </a:prstGeom>
          <a:noFill/>
        </p:spPr>
        <p:txBody>
          <a:bodyPr wrap="square">
            <a:noAutofit/>
          </a:bodyPr>
          <a:lstStyle/>
          <a:p>
            <a:pPr algn="l">
              <a:spcBef>
                <a:spcPts val="0"/>
              </a:spcBef>
              <a:spcAft>
                <a:spcPts val="0"/>
              </a:spcAft>
              <a:defRPr sz="1200" b="1">
                <a:solidFill>
                  <a:srgbClr val="06A77D"/>
                </a:solidFill>
                <a:latin typeface="Calibri"/>
              </a:defRPr>
            </a:pPr>
            <a:r>
              <a:t>Log_Analyzer</a:t>
            </a:r>
          </a:p>
        </p:txBody>
      </p:sp>
      <p:sp>
        <p:nvSpPr>
          <p:cNvPr id="31" name="Rounded Rectangle 30"/>
          <p:cNvSpPr/>
          <p:nvPr/>
        </p:nvSpPr>
        <p:spPr>
          <a:xfrm>
            <a:off x="7680960" y="2423160"/>
            <a:ext cx="914400" cy="41148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104.2s</a:t>
            </a:r>
          </a:p>
        </p:txBody>
      </p:sp>
      <p:sp>
        <p:nvSpPr>
          <p:cNvPr id="32" name="TextBox 31"/>
          <p:cNvSpPr txBox="1"/>
          <p:nvPr/>
        </p:nvSpPr>
        <p:spPr>
          <a:xfrm>
            <a:off x="7680960" y="3017520"/>
            <a:ext cx="3657600" cy="274320"/>
          </a:xfrm>
          <a:prstGeom prst="rect">
            <a:avLst/>
          </a:prstGeom>
          <a:noFill/>
        </p:spPr>
        <p:txBody>
          <a:bodyPr wrap="square">
            <a:noAutofit/>
          </a:bodyPr>
          <a:lstStyle/>
          <a:p>
            <a:pPr algn="l">
              <a:spcBef>
                <a:spcPts val="0"/>
              </a:spcBef>
              <a:spcAft>
                <a:spcPts val="0"/>
              </a:spcAft>
              <a:defRPr sz="1200" b="1">
                <a:solidFill>
                  <a:srgbClr val="E63946"/>
                </a:solidFill>
                <a:latin typeface="Calibri"/>
              </a:defRPr>
            </a:pPr>
            <a:r>
              <a:t>Traditional</a:t>
            </a:r>
          </a:p>
        </p:txBody>
      </p:sp>
      <p:sp>
        <p:nvSpPr>
          <p:cNvPr id="33" name="Rounded Rectangle 32"/>
          <p:cNvSpPr/>
          <p:nvPr/>
        </p:nvSpPr>
        <p:spPr>
          <a:xfrm>
            <a:off x="7680960" y="3337560"/>
            <a:ext cx="3657600" cy="41148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45 min</a:t>
            </a:r>
          </a:p>
        </p:txBody>
      </p:sp>
      <p:sp>
        <p:nvSpPr>
          <p:cNvPr id="34" name="Rounded Rectangle 33"/>
          <p:cNvSpPr/>
          <p:nvPr/>
        </p:nvSpPr>
        <p:spPr>
          <a:xfrm>
            <a:off x="8046720" y="3931920"/>
            <a:ext cx="3200400" cy="502920"/>
          </a:xfrm>
          <a:prstGeom prst="roundRect">
            <a:avLst/>
          </a:prstGeom>
          <a:solidFill>
            <a:srgbClr val="17171B"/>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800" b="1">
                <a:solidFill>
                  <a:srgbClr val="06A77D"/>
                </a:solidFill>
                <a:latin typeface="Calibri"/>
              </a:defRPr>
            </a:pPr>
            <a:r>
              <a:t>96% Reduction</a:t>
            </a:r>
          </a:p>
        </p:txBody>
      </p:sp>
      <p:sp>
        <p:nvSpPr>
          <p:cNvPr id="35" name="Rounded Rectangle 34"/>
          <p:cNvSpPr/>
          <p:nvPr/>
        </p:nvSpPr>
        <p:spPr>
          <a:xfrm>
            <a:off x="7315200" y="5029200"/>
            <a:ext cx="4389120" cy="1097280"/>
          </a:xfrm>
          <a:prstGeom prst="roundRect">
            <a:avLst/>
          </a:prstGeom>
          <a:solidFill>
            <a:srgbClr val="17171B"/>
          </a:solidFill>
          <a:ln w="12700">
            <a:solidFill>
              <a:srgbClr val="3A3A4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400" b="1">
                <a:solidFill>
                  <a:srgbClr val="FFFFFF"/>
                </a:solidFill>
                <a:latin typeface="Calibri"/>
              </a:defRPr>
            </a:pPr>
            <a:r>
              <a:t>Fully autonomous.</a:t>
            </a:r>
          </a:p>
          <a:p>
            <a:pPr algn="ctr">
              <a:spcBef>
                <a:spcPts val="100"/>
              </a:spcBef>
              <a:spcAft>
                <a:spcPts val="200"/>
              </a:spcAft>
              <a:defRPr sz="1300" b="0">
                <a:solidFill>
                  <a:srgbClr val="A0A0A0"/>
                </a:solidFill>
                <a:latin typeface="Calibri"/>
              </a:defRPr>
            </a:pPr>
            <a:r>
              <a:t>No human in the loop.</a:t>
            </a:r>
          </a:p>
          <a:p>
            <a:pPr algn="ctr">
              <a:spcBef>
                <a:spcPts val="100"/>
              </a:spcBef>
              <a:spcAft>
                <a:spcPts val="200"/>
              </a:spcAft>
              <a:defRPr sz="1300" b="0">
                <a:solidFill>
                  <a:srgbClr val="06A77D"/>
                </a:solidFill>
                <a:latin typeface="Calibri"/>
              </a:defRPr>
            </a:pPr>
            <a:r>
              <a:t>Detection to recovery in seconds.</a:t>
            </a:r>
          </a:p>
        </p:txBody>
      </p:sp>
      <p:sp>
        <p:nvSpPr>
          <p:cNvPr id="36" name="TextBox 35"/>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When Multiple Services Fail: Dependency Reasoning</a:t>
            </a:r>
          </a:p>
        </p:txBody>
      </p:sp>
      <p:sp>
        <p:nvSpPr>
          <p:cNvPr id="5" name="Rounded Rectangle 4"/>
          <p:cNvSpPr/>
          <p:nvPr/>
        </p:nvSpPr>
        <p:spPr>
          <a:xfrm>
            <a:off x="640080" y="1371600"/>
            <a:ext cx="5303520" cy="4572000"/>
          </a:xfrm>
          <a:prstGeom prst="roundRect">
            <a:avLst/>
          </a:prstGeom>
          <a:solidFill>
            <a:srgbClr val="2A2A2F"/>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5303520" cy="50292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SCENARIO A: CASCADING FAILURE</a:t>
            </a:r>
          </a:p>
        </p:txBody>
      </p:sp>
      <p:sp>
        <p:nvSpPr>
          <p:cNvPr id="7" name="TextBox 6"/>
          <p:cNvSpPr txBox="1"/>
          <p:nvPr/>
        </p:nvSpPr>
        <p:spPr>
          <a:xfrm>
            <a:off x="914400" y="2011680"/>
            <a:ext cx="4754880" cy="365760"/>
          </a:xfrm>
          <a:prstGeom prst="rect">
            <a:avLst/>
          </a:prstGeom>
          <a:noFill/>
        </p:spPr>
        <p:txBody>
          <a:bodyPr wrap="square">
            <a:noAutofit/>
          </a:bodyPr>
          <a:lstStyle/>
          <a:p>
            <a:pPr algn="l">
              <a:spcBef>
                <a:spcPts val="0"/>
              </a:spcBef>
              <a:spcAft>
                <a:spcPts val="0"/>
              </a:spcAft>
              <a:defRPr sz="1500" b="1">
                <a:solidFill>
                  <a:srgbClr val="06A77D"/>
                </a:solidFill>
                <a:latin typeface="Calibri"/>
              </a:defRPr>
            </a:pPr>
            <a:r>
              <a:t>Correlated Failures</a:t>
            </a:r>
          </a:p>
        </p:txBody>
      </p:sp>
      <p:sp>
        <p:nvSpPr>
          <p:cNvPr id="8" name="TextBox 7"/>
          <p:cNvSpPr txBox="1"/>
          <p:nvPr/>
        </p:nvSpPr>
        <p:spPr>
          <a:xfrm>
            <a:off x="914400" y="2377440"/>
            <a:ext cx="4754880" cy="731520"/>
          </a:xfrm>
          <a:prstGeom prst="rect">
            <a:avLst/>
          </a:prstGeom>
          <a:noFill/>
        </p:spPr>
        <p:txBody>
          <a:bodyPr wrap="square">
            <a:noAutofit/>
          </a:bodyPr>
          <a:lstStyle/>
          <a:p>
            <a:pPr algn="l">
              <a:spcBef>
                <a:spcPts val="0"/>
              </a:spcBef>
              <a:spcAft>
                <a:spcPts val="0"/>
              </a:spcAft>
              <a:defRPr sz="1200" b="0">
                <a:solidFill>
                  <a:srgbClr val="A0A0A0"/>
                </a:solidFill>
                <a:latin typeface="Calibri"/>
              </a:defRPr>
            </a:pPr>
            <a:r>
              <a:t>System detects that Frontend, CartService, and Redis</a:t>
            </a:r>
            <a:br/>
            <a:r>
              <a:t>failures share a common root cause.</a:t>
            </a:r>
          </a:p>
        </p:txBody>
      </p:sp>
      <p:sp>
        <p:nvSpPr>
          <p:cNvPr id="9" name="Rounded Rectangle 8"/>
          <p:cNvSpPr/>
          <p:nvPr/>
        </p:nvSpPr>
        <p:spPr>
          <a:xfrm>
            <a:off x="1371600" y="3200400"/>
            <a:ext cx="2286000" cy="457200"/>
          </a:xfrm>
          <a:prstGeom prst="roundRect">
            <a:avLst/>
          </a:prstGeom>
          <a:solidFill>
            <a:srgbClr val="17171B"/>
          </a:solidFill>
          <a:ln w="1905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200" b="1">
                <a:solidFill>
                  <a:srgbClr val="E63946"/>
                </a:solidFill>
                <a:latin typeface="Calibri"/>
              </a:defRPr>
            </a:pPr>
            <a:r>
              <a:t>Frontend</a:t>
            </a:r>
          </a:p>
        </p:txBody>
      </p:sp>
      <p:cxnSp>
        <p:nvCxnSpPr>
          <p:cNvPr id="10" name="Connector 9"/>
          <p:cNvCxnSpPr/>
          <p:nvPr/>
        </p:nvCxnSpPr>
        <p:spPr>
          <a:xfrm>
            <a:off x="2514600" y="3703320"/>
            <a:ext cx="0" cy="91440"/>
          </a:xfrm>
          <a:prstGeom prst="line">
            <a:avLst/>
          </a:prstGeom>
          <a:ln w="25400">
            <a:solidFill>
              <a:srgbClr val="E6394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371600" y="3840480"/>
            <a:ext cx="2286000" cy="457200"/>
          </a:xfrm>
          <a:prstGeom prst="roundRect">
            <a:avLst/>
          </a:prstGeom>
          <a:solidFill>
            <a:srgbClr val="17171B"/>
          </a:solidFill>
          <a:ln w="1905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200" b="1">
                <a:solidFill>
                  <a:srgbClr val="F77F00"/>
                </a:solidFill>
                <a:latin typeface="Calibri"/>
              </a:defRPr>
            </a:pPr>
            <a:r>
              <a:t>CartService</a:t>
            </a:r>
          </a:p>
        </p:txBody>
      </p:sp>
      <p:cxnSp>
        <p:nvCxnSpPr>
          <p:cNvPr id="12" name="Connector 11"/>
          <p:cNvCxnSpPr/>
          <p:nvPr/>
        </p:nvCxnSpPr>
        <p:spPr>
          <a:xfrm>
            <a:off x="2514600" y="4343400"/>
            <a:ext cx="0" cy="91440"/>
          </a:xfrm>
          <a:prstGeom prst="line">
            <a:avLst/>
          </a:prstGeom>
          <a:ln w="25400">
            <a:solidFill>
              <a:srgbClr val="F77F0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371600" y="4480560"/>
            <a:ext cx="2286000" cy="457200"/>
          </a:xfrm>
          <a:prstGeom prst="roundRect">
            <a:avLst/>
          </a:prstGeom>
          <a:solidFill>
            <a:srgbClr val="17171B"/>
          </a:solidFill>
          <a:ln w="1905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200" b="1">
                <a:solidFill>
                  <a:srgbClr val="E63946"/>
                </a:solidFill>
                <a:latin typeface="Calibri"/>
              </a:defRPr>
            </a:pPr>
            <a:r>
              <a:t>Redis-Cart</a:t>
            </a:r>
          </a:p>
        </p:txBody>
      </p:sp>
      <p:sp>
        <p:nvSpPr>
          <p:cNvPr id="14" name="Rounded Rectangle 13"/>
          <p:cNvSpPr/>
          <p:nvPr/>
        </p:nvSpPr>
        <p:spPr>
          <a:xfrm>
            <a:off x="3931920" y="3383280"/>
            <a:ext cx="1737360" cy="1371600"/>
          </a:xfrm>
          <a:prstGeom prst="roundRect">
            <a:avLst/>
          </a:prstGeom>
          <a:solidFill>
            <a:srgbClr val="17171B"/>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400" b="1">
                <a:solidFill>
                  <a:srgbClr val="06A77D"/>
                </a:solidFill>
                <a:latin typeface="Calibri"/>
              </a:defRPr>
            </a:pPr>
            <a:r>
              <a:t>FIX 1</a:t>
            </a:r>
          </a:p>
          <a:p>
            <a:pPr algn="ctr">
              <a:spcBef>
                <a:spcPts val="100"/>
              </a:spcBef>
              <a:spcAft>
                <a:spcPts val="200"/>
              </a:spcAft>
              <a:defRPr sz="1100" b="0">
                <a:solidFill>
                  <a:srgbClr val="A0A0A0"/>
                </a:solidFill>
                <a:latin typeface="Calibri"/>
              </a:defRPr>
            </a:pPr>
            <a:r>
              <a:t>root cause</a:t>
            </a:r>
          </a:p>
          <a:p>
            <a:pPr algn="ctr">
              <a:spcBef>
                <a:spcPts val="100"/>
              </a:spcBef>
              <a:spcAft>
                <a:spcPts val="200"/>
              </a:spcAft>
              <a:defRPr sz="1400" b="1">
                <a:solidFill>
                  <a:srgbClr val="06A77D"/>
                </a:solidFill>
                <a:latin typeface="Calibri"/>
              </a:defRPr>
            </a:pPr>
            <a:r>
              <a:t>Recover 3</a:t>
            </a:r>
          </a:p>
          <a:p>
            <a:pPr algn="ctr">
              <a:spcBef>
                <a:spcPts val="100"/>
              </a:spcBef>
              <a:spcAft>
                <a:spcPts val="200"/>
              </a:spcAft>
              <a:defRPr sz="1100" b="0">
                <a:solidFill>
                  <a:srgbClr val="A0A0A0"/>
                </a:solidFill>
                <a:latin typeface="Calibri"/>
              </a:defRPr>
            </a:pPr>
            <a:r>
              <a:t>services</a:t>
            </a:r>
          </a:p>
        </p:txBody>
      </p:sp>
      <p:sp>
        <p:nvSpPr>
          <p:cNvPr id="15" name="Right Arrow 14"/>
          <p:cNvSpPr/>
          <p:nvPr/>
        </p:nvSpPr>
        <p:spPr>
          <a:xfrm>
            <a:off x="3657600" y="3840480"/>
            <a:ext cx="274320" cy="228600"/>
          </a:xfrm>
          <a:prstGeom prst="rightArrow">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1371600"/>
            <a:ext cx="5303520" cy="4572000"/>
          </a:xfrm>
          <a:prstGeom prst="roundRect">
            <a:avLst/>
          </a:prstGeom>
          <a:solidFill>
            <a:srgbClr val="2A2A2F"/>
          </a:solidFill>
          <a:ln w="2540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371600"/>
            <a:ext cx="5303520" cy="502920"/>
          </a:xfrm>
          <a:prstGeom prst="round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400" b="1">
                <a:solidFill>
                  <a:srgbClr val="FFFFFF"/>
                </a:solidFill>
                <a:latin typeface="Calibri"/>
              </a:defRPr>
            </a:pPr>
            <a:r>
              <a:t>SCENARIO B: INDEPENDENT FAILURES</a:t>
            </a:r>
          </a:p>
        </p:txBody>
      </p:sp>
      <p:sp>
        <p:nvSpPr>
          <p:cNvPr id="18" name="TextBox 17"/>
          <p:cNvSpPr txBox="1"/>
          <p:nvPr/>
        </p:nvSpPr>
        <p:spPr>
          <a:xfrm>
            <a:off x="6492240" y="2011680"/>
            <a:ext cx="4754880" cy="365760"/>
          </a:xfrm>
          <a:prstGeom prst="rect">
            <a:avLst/>
          </a:prstGeom>
          <a:noFill/>
        </p:spPr>
        <p:txBody>
          <a:bodyPr wrap="square">
            <a:noAutofit/>
          </a:bodyPr>
          <a:lstStyle/>
          <a:p>
            <a:pPr algn="l">
              <a:spcBef>
                <a:spcPts val="0"/>
              </a:spcBef>
              <a:spcAft>
                <a:spcPts val="0"/>
              </a:spcAft>
              <a:defRPr sz="1500" b="1">
                <a:solidFill>
                  <a:srgbClr val="457B9D"/>
                </a:solidFill>
                <a:latin typeface="Calibri"/>
              </a:defRPr>
            </a:pPr>
            <a:r>
              <a:t>Parallel Remediation</a:t>
            </a:r>
          </a:p>
        </p:txBody>
      </p:sp>
      <p:sp>
        <p:nvSpPr>
          <p:cNvPr id="19" name="TextBox 18"/>
          <p:cNvSpPr txBox="1"/>
          <p:nvPr/>
        </p:nvSpPr>
        <p:spPr>
          <a:xfrm>
            <a:off x="6492240" y="2377440"/>
            <a:ext cx="4754880" cy="731520"/>
          </a:xfrm>
          <a:prstGeom prst="rect">
            <a:avLst/>
          </a:prstGeom>
          <a:noFill/>
        </p:spPr>
        <p:txBody>
          <a:bodyPr wrap="square">
            <a:noAutofit/>
          </a:bodyPr>
          <a:lstStyle/>
          <a:p>
            <a:pPr algn="l">
              <a:spcBef>
                <a:spcPts val="0"/>
              </a:spcBef>
              <a:spcAft>
                <a:spcPts val="0"/>
              </a:spcAft>
              <a:defRPr sz="1200" b="0">
                <a:solidFill>
                  <a:srgbClr val="A0A0A0"/>
                </a:solidFill>
                <a:latin typeface="Calibri"/>
              </a:defRPr>
            </a:pPr>
            <a:r>
              <a:t>Independent failures get different strategies</a:t>
            </a:r>
            <a:br/>
            <a:r>
              <a:t>applied in parallel for fastest recovery.</a:t>
            </a:r>
          </a:p>
        </p:txBody>
      </p:sp>
      <p:sp>
        <p:nvSpPr>
          <p:cNvPr id="20" name="Rounded Rectangle 19"/>
          <p:cNvSpPr/>
          <p:nvPr/>
        </p:nvSpPr>
        <p:spPr>
          <a:xfrm>
            <a:off x="6675120" y="3200400"/>
            <a:ext cx="1828800" cy="457200"/>
          </a:xfrm>
          <a:prstGeom prst="roundRect">
            <a:avLst/>
          </a:prstGeom>
          <a:solidFill>
            <a:srgbClr val="17171B"/>
          </a:solidFill>
          <a:ln w="1905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200" b="1">
                <a:solidFill>
                  <a:srgbClr val="06A77D"/>
                </a:solidFill>
                <a:latin typeface="Calibri"/>
              </a:defRPr>
            </a:pPr>
            <a:r>
              <a:t>Service A</a:t>
            </a:r>
          </a:p>
        </p:txBody>
      </p:sp>
      <p:sp>
        <p:nvSpPr>
          <p:cNvPr id="21" name="Right Arrow 20"/>
          <p:cNvSpPr/>
          <p:nvPr/>
        </p:nvSpPr>
        <p:spPr>
          <a:xfrm>
            <a:off x="8595360" y="3291840"/>
            <a:ext cx="320040" cy="228600"/>
          </a:xfrm>
          <a:prstGeom prst="rightArrow">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52560" y="3200400"/>
            <a:ext cx="2103120" cy="45720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200" b="1">
                <a:solidFill>
                  <a:srgbClr val="FFFFFF"/>
                </a:solidFill>
                <a:latin typeface="Calibri"/>
              </a:defRPr>
            </a:pPr>
            <a:r>
              <a:t>Scale-up</a:t>
            </a:r>
          </a:p>
        </p:txBody>
      </p:sp>
      <p:sp>
        <p:nvSpPr>
          <p:cNvPr id="23" name="Rounded Rectangle 22"/>
          <p:cNvSpPr/>
          <p:nvPr/>
        </p:nvSpPr>
        <p:spPr>
          <a:xfrm>
            <a:off x="6675120" y="3840480"/>
            <a:ext cx="1828800" cy="457200"/>
          </a:xfrm>
          <a:prstGeom prst="roundRect">
            <a:avLst/>
          </a:prstGeom>
          <a:solidFill>
            <a:srgbClr val="17171B"/>
          </a:solidFill>
          <a:ln w="1905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200" b="1">
                <a:solidFill>
                  <a:srgbClr val="F77F00"/>
                </a:solidFill>
                <a:latin typeface="Calibri"/>
              </a:defRPr>
            </a:pPr>
            <a:r>
              <a:t>Service B</a:t>
            </a:r>
          </a:p>
        </p:txBody>
      </p:sp>
      <p:sp>
        <p:nvSpPr>
          <p:cNvPr id="24" name="Right Arrow 23"/>
          <p:cNvSpPr/>
          <p:nvPr/>
        </p:nvSpPr>
        <p:spPr>
          <a:xfrm>
            <a:off x="8595360" y="3931920"/>
            <a:ext cx="320040" cy="228600"/>
          </a:xfrm>
          <a:prstGeom prst="rightArrow">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52560" y="3840480"/>
            <a:ext cx="2103120" cy="457200"/>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200" b="1">
                <a:solidFill>
                  <a:srgbClr val="FFFFFF"/>
                </a:solidFill>
                <a:latin typeface="Calibri"/>
              </a:defRPr>
            </a:pPr>
            <a:r>
              <a:t>Restart</a:t>
            </a:r>
          </a:p>
        </p:txBody>
      </p:sp>
      <p:sp>
        <p:nvSpPr>
          <p:cNvPr id="26" name="Rounded Rectangle 25"/>
          <p:cNvSpPr/>
          <p:nvPr/>
        </p:nvSpPr>
        <p:spPr>
          <a:xfrm>
            <a:off x="6675120" y="4480560"/>
            <a:ext cx="1828800" cy="457200"/>
          </a:xfrm>
          <a:prstGeom prst="roundRect">
            <a:avLst/>
          </a:prstGeom>
          <a:solidFill>
            <a:srgbClr val="17171B"/>
          </a:solidFill>
          <a:ln w="1905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200" b="1">
                <a:solidFill>
                  <a:srgbClr val="457B9D"/>
                </a:solidFill>
                <a:latin typeface="Calibri"/>
              </a:defRPr>
            </a:pPr>
            <a:r>
              <a:t>Service C</a:t>
            </a:r>
          </a:p>
        </p:txBody>
      </p:sp>
      <p:sp>
        <p:nvSpPr>
          <p:cNvPr id="27" name="Right Arrow 26"/>
          <p:cNvSpPr/>
          <p:nvPr/>
        </p:nvSpPr>
        <p:spPr>
          <a:xfrm>
            <a:off x="8595360" y="4572000"/>
            <a:ext cx="320040" cy="228600"/>
          </a:xfrm>
          <a:prstGeom prst="rightArrow">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052560" y="4480560"/>
            <a:ext cx="2103120" cy="457200"/>
          </a:xfrm>
          <a:prstGeom prst="round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200" b="1">
                <a:solidFill>
                  <a:srgbClr val="FFFFFF"/>
                </a:solidFill>
                <a:latin typeface="Calibri"/>
              </a:defRPr>
            </a:pPr>
            <a:r>
              <a:t>Rollback</a:t>
            </a:r>
          </a:p>
        </p:txBody>
      </p:sp>
      <p:sp>
        <p:nvSpPr>
          <p:cNvPr id="29" name="Rounded Rectangle 28"/>
          <p:cNvSpPr/>
          <p:nvPr/>
        </p:nvSpPr>
        <p:spPr>
          <a:xfrm>
            <a:off x="2286000" y="6126480"/>
            <a:ext cx="7619695" cy="502920"/>
          </a:xfrm>
          <a:prstGeom prst="roundRect">
            <a:avLst/>
          </a:prstGeom>
          <a:solidFill>
            <a:srgbClr val="17171B"/>
          </a:solidFill>
          <a:ln w="12700">
            <a:solidFill>
              <a:srgbClr val="3A3A4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300" b="0">
                <a:solidFill>
                  <a:srgbClr val="A0A0A0"/>
                </a:solidFill>
                <a:latin typeface="Calibri"/>
              </a:defRPr>
            </a:pPr>
            <a:r>
              <a:t>Dependency graph determines correlation → chooses optimal strategy per incident</a:t>
            </a:r>
          </a:p>
        </p:txBody>
      </p:sp>
      <p:sp>
        <p:nvSpPr>
          <p:cNvPr id="30" name="TextBox 29"/>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Measured Improvement in Autonomous Operations</a:t>
            </a:r>
          </a:p>
        </p:txBody>
      </p:sp>
      <p:sp>
        <p:nvSpPr>
          <p:cNvPr id="5" name="Rounded Rectangle 4"/>
          <p:cNvSpPr/>
          <p:nvPr/>
        </p:nvSpPr>
        <p:spPr>
          <a:xfrm>
            <a:off x="457200" y="1280160"/>
            <a:ext cx="3566160" cy="3200400"/>
          </a:xfrm>
          <a:prstGeom prst="roundRect">
            <a:avLst/>
          </a:prstGeom>
          <a:solidFill>
            <a:srgbClr val="2A2A2F"/>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280160"/>
            <a:ext cx="3566160" cy="45720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300" b="1">
                <a:solidFill>
                  <a:srgbClr val="FFFFFF"/>
                </a:solidFill>
                <a:latin typeface="Calibri"/>
              </a:defRPr>
            </a:pPr>
            <a:r>
              <a:t>MTTR REDUCTION</a:t>
            </a:r>
          </a:p>
        </p:txBody>
      </p:sp>
      <p:sp>
        <p:nvSpPr>
          <p:cNvPr id="7" name="TextBox 6"/>
          <p:cNvSpPr txBox="1"/>
          <p:nvPr/>
        </p:nvSpPr>
        <p:spPr>
          <a:xfrm>
            <a:off x="640080" y="1920240"/>
            <a:ext cx="3200400" cy="914400"/>
          </a:xfrm>
          <a:prstGeom prst="rect">
            <a:avLst/>
          </a:prstGeom>
          <a:noFill/>
        </p:spPr>
        <p:txBody>
          <a:bodyPr wrap="square">
            <a:noAutofit/>
          </a:bodyPr>
          <a:lstStyle/>
          <a:p>
            <a:pPr algn="ctr">
              <a:spcBef>
                <a:spcPts val="0"/>
              </a:spcBef>
              <a:spcAft>
                <a:spcPts val="0"/>
              </a:spcAft>
              <a:defRPr sz="5200" b="1">
                <a:solidFill>
                  <a:srgbClr val="06A77D"/>
                </a:solidFill>
                <a:latin typeface="Calibri"/>
              </a:defRPr>
            </a:pPr>
            <a:r>
              <a:t>104.2s</a:t>
            </a:r>
          </a:p>
        </p:txBody>
      </p:sp>
      <p:sp>
        <p:nvSpPr>
          <p:cNvPr id="8" name="TextBox 7"/>
          <p:cNvSpPr txBox="1"/>
          <p:nvPr/>
        </p:nvSpPr>
        <p:spPr>
          <a:xfrm>
            <a:off x="640080" y="2743200"/>
            <a:ext cx="3200400" cy="365760"/>
          </a:xfrm>
          <a:prstGeom prst="rect">
            <a:avLst/>
          </a:prstGeom>
          <a:noFill/>
        </p:spPr>
        <p:txBody>
          <a:bodyPr wrap="square">
            <a:noAutofit/>
          </a:bodyPr>
          <a:lstStyle/>
          <a:p>
            <a:pPr algn="ctr">
              <a:spcBef>
                <a:spcPts val="0"/>
              </a:spcBef>
              <a:spcAft>
                <a:spcPts val="0"/>
              </a:spcAft>
              <a:defRPr sz="1400" b="0">
                <a:solidFill>
                  <a:srgbClr val="A0A0A0"/>
                </a:solidFill>
                <a:latin typeface="Calibri"/>
              </a:defRPr>
            </a:pPr>
            <a:r>
              <a:t>vs 45 min manual</a:t>
            </a:r>
          </a:p>
        </p:txBody>
      </p:sp>
      <p:sp>
        <p:nvSpPr>
          <p:cNvPr id="9" name="Rounded Rectangle 8"/>
          <p:cNvSpPr/>
          <p:nvPr/>
        </p:nvSpPr>
        <p:spPr>
          <a:xfrm>
            <a:off x="914400" y="3200400"/>
            <a:ext cx="731520" cy="32004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000" b="1">
                <a:solidFill>
                  <a:srgbClr val="FFFFFF"/>
                </a:solidFill>
                <a:latin typeface="Calibri"/>
              </a:defRPr>
            </a:pPr>
            <a:r>
              <a:t>104s</a:t>
            </a:r>
          </a:p>
        </p:txBody>
      </p:sp>
      <p:sp>
        <p:nvSpPr>
          <p:cNvPr id="10" name="Rounded Rectangle 9"/>
          <p:cNvSpPr/>
          <p:nvPr/>
        </p:nvSpPr>
        <p:spPr>
          <a:xfrm>
            <a:off x="914400" y="3611880"/>
            <a:ext cx="2834640" cy="32004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000" b="1">
                <a:solidFill>
                  <a:srgbClr val="FFFFFF"/>
                </a:solidFill>
                <a:latin typeface="Calibri"/>
              </a:defRPr>
            </a:pPr>
            <a:r>
              <a:t>2700s (45 min)</a:t>
            </a:r>
          </a:p>
        </p:txBody>
      </p:sp>
      <p:sp>
        <p:nvSpPr>
          <p:cNvPr id="11" name="Rounded Rectangle 10"/>
          <p:cNvSpPr/>
          <p:nvPr/>
        </p:nvSpPr>
        <p:spPr>
          <a:xfrm>
            <a:off x="4251960" y="1280160"/>
            <a:ext cx="3657600" cy="3200400"/>
          </a:xfrm>
          <a:prstGeom prst="roundRect">
            <a:avLst/>
          </a:prstGeom>
          <a:solidFill>
            <a:srgbClr val="2A2A2F"/>
          </a:solidFill>
          <a:ln w="2540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51960" y="1280160"/>
            <a:ext cx="3657600" cy="457200"/>
          </a:xfrm>
          <a:prstGeom prst="round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300" b="1">
                <a:solidFill>
                  <a:srgbClr val="FFFFFF"/>
                </a:solidFill>
                <a:latin typeface="Calibri"/>
              </a:defRPr>
            </a:pPr>
            <a:r>
              <a:t>SUCCESS RATES</a:t>
            </a:r>
          </a:p>
        </p:txBody>
      </p:sp>
      <p:sp>
        <p:nvSpPr>
          <p:cNvPr id="13" name="TextBox 12"/>
          <p:cNvSpPr txBox="1"/>
          <p:nvPr/>
        </p:nvSpPr>
        <p:spPr>
          <a:xfrm>
            <a:off x="4434840" y="1965960"/>
            <a:ext cx="1371600" cy="274320"/>
          </a:xfrm>
          <a:prstGeom prst="rect">
            <a:avLst/>
          </a:prstGeom>
          <a:noFill/>
        </p:spPr>
        <p:txBody>
          <a:bodyPr wrap="square">
            <a:noAutofit/>
          </a:bodyPr>
          <a:lstStyle/>
          <a:p>
            <a:pPr algn="l">
              <a:spcBef>
                <a:spcPts val="0"/>
              </a:spcBef>
              <a:spcAft>
                <a:spcPts val="0"/>
              </a:spcAft>
              <a:defRPr sz="1100" b="1">
                <a:solidFill>
                  <a:srgbClr val="D0D0D0"/>
                </a:solidFill>
                <a:latin typeface="Calibri"/>
              </a:defRPr>
            </a:pPr>
            <a:r>
              <a:t>Scale-up</a:t>
            </a:r>
          </a:p>
        </p:txBody>
      </p:sp>
      <p:sp>
        <p:nvSpPr>
          <p:cNvPr id="14" name="Rounded Rectangle 13"/>
          <p:cNvSpPr/>
          <p:nvPr/>
        </p:nvSpPr>
        <p:spPr>
          <a:xfrm>
            <a:off x="5760720" y="2240279"/>
            <a:ext cx="2011680" cy="27432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2221991"/>
            <a:ext cx="914400" cy="274320"/>
          </a:xfrm>
          <a:prstGeom prst="rect">
            <a:avLst/>
          </a:prstGeom>
          <a:noFill/>
        </p:spPr>
        <p:txBody>
          <a:bodyPr wrap="square">
            <a:noAutofit/>
          </a:bodyPr>
          <a:lstStyle/>
          <a:p>
            <a:pPr algn="l">
              <a:spcBef>
                <a:spcPts val="0"/>
              </a:spcBef>
              <a:spcAft>
                <a:spcPts val="0"/>
              </a:spcAft>
              <a:defRPr sz="1100" b="1">
                <a:solidFill>
                  <a:srgbClr val="06A77D"/>
                </a:solidFill>
                <a:latin typeface="Calibri"/>
              </a:defRPr>
            </a:pPr>
            <a:r>
              <a:t>100% (43)</a:t>
            </a:r>
          </a:p>
        </p:txBody>
      </p:sp>
      <p:sp>
        <p:nvSpPr>
          <p:cNvPr id="16" name="TextBox 15"/>
          <p:cNvSpPr txBox="1"/>
          <p:nvPr/>
        </p:nvSpPr>
        <p:spPr>
          <a:xfrm>
            <a:off x="4434840" y="2743200"/>
            <a:ext cx="1371600" cy="274320"/>
          </a:xfrm>
          <a:prstGeom prst="rect">
            <a:avLst/>
          </a:prstGeom>
          <a:noFill/>
        </p:spPr>
        <p:txBody>
          <a:bodyPr wrap="square">
            <a:noAutofit/>
          </a:bodyPr>
          <a:lstStyle/>
          <a:p>
            <a:pPr algn="l">
              <a:spcBef>
                <a:spcPts val="0"/>
              </a:spcBef>
              <a:spcAft>
                <a:spcPts val="0"/>
              </a:spcAft>
              <a:defRPr sz="1100" b="1">
                <a:solidFill>
                  <a:srgbClr val="D0D0D0"/>
                </a:solidFill>
                <a:latin typeface="Calibri"/>
              </a:defRPr>
            </a:pPr>
            <a:r>
              <a:t>Restart</a:t>
            </a:r>
          </a:p>
        </p:txBody>
      </p:sp>
      <p:sp>
        <p:nvSpPr>
          <p:cNvPr id="17" name="Rounded Rectangle 16"/>
          <p:cNvSpPr/>
          <p:nvPr/>
        </p:nvSpPr>
        <p:spPr>
          <a:xfrm>
            <a:off x="5760720" y="3017520"/>
            <a:ext cx="1207008" cy="274320"/>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9168" y="2999232"/>
            <a:ext cx="914400" cy="274320"/>
          </a:xfrm>
          <a:prstGeom prst="rect">
            <a:avLst/>
          </a:prstGeom>
          <a:noFill/>
        </p:spPr>
        <p:txBody>
          <a:bodyPr wrap="square">
            <a:noAutofit/>
          </a:bodyPr>
          <a:lstStyle/>
          <a:p>
            <a:pPr algn="l">
              <a:spcBef>
                <a:spcPts val="0"/>
              </a:spcBef>
              <a:spcAft>
                <a:spcPts val="0"/>
              </a:spcAft>
              <a:defRPr sz="1100" b="1">
                <a:solidFill>
                  <a:srgbClr val="F77F00"/>
                </a:solidFill>
                <a:latin typeface="Calibri"/>
              </a:defRPr>
            </a:pPr>
            <a:r>
              <a:t>60% (5)</a:t>
            </a:r>
          </a:p>
        </p:txBody>
      </p:sp>
      <p:sp>
        <p:nvSpPr>
          <p:cNvPr id="19" name="TextBox 18"/>
          <p:cNvSpPr txBox="1"/>
          <p:nvPr/>
        </p:nvSpPr>
        <p:spPr>
          <a:xfrm>
            <a:off x="4434840" y="3520439"/>
            <a:ext cx="1371600" cy="274320"/>
          </a:xfrm>
          <a:prstGeom prst="rect">
            <a:avLst/>
          </a:prstGeom>
          <a:noFill/>
        </p:spPr>
        <p:txBody>
          <a:bodyPr wrap="square">
            <a:noAutofit/>
          </a:bodyPr>
          <a:lstStyle/>
          <a:p>
            <a:pPr algn="l">
              <a:spcBef>
                <a:spcPts val="0"/>
              </a:spcBef>
              <a:spcAft>
                <a:spcPts val="0"/>
              </a:spcAft>
              <a:defRPr sz="1100" b="1">
                <a:solidFill>
                  <a:srgbClr val="D0D0D0"/>
                </a:solidFill>
                <a:latin typeface="Calibri"/>
              </a:defRPr>
            </a:pPr>
            <a:r>
              <a:t>Overall</a:t>
            </a:r>
          </a:p>
        </p:txBody>
      </p:sp>
      <p:sp>
        <p:nvSpPr>
          <p:cNvPr id="20" name="Rounded Rectangle 19"/>
          <p:cNvSpPr/>
          <p:nvPr/>
        </p:nvSpPr>
        <p:spPr>
          <a:xfrm>
            <a:off x="5760720" y="3794759"/>
            <a:ext cx="1892990" cy="274320"/>
          </a:xfrm>
          <a:prstGeom prst="round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45150" y="3776472"/>
            <a:ext cx="914400" cy="274320"/>
          </a:xfrm>
          <a:prstGeom prst="rect">
            <a:avLst/>
          </a:prstGeom>
          <a:noFill/>
        </p:spPr>
        <p:txBody>
          <a:bodyPr wrap="square">
            <a:noAutofit/>
          </a:bodyPr>
          <a:lstStyle/>
          <a:p>
            <a:pPr algn="l">
              <a:spcBef>
                <a:spcPts val="0"/>
              </a:spcBef>
              <a:spcAft>
                <a:spcPts val="0"/>
              </a:spcAft>
              <a:defRPr sz="1100" b="1">
                <a:solidFill>
                  <a:srgbClr val="457B9D"/>
                </a:solidFill>
                <a:latin typeface="Calibri"/>
              </a:defRPr>
            </a:pPr>
            <a:r>
              <a:t>94.1%</a:t>
            </a:r>
          </a:p>
        </p:txBody>
      </p:sp>
      <p:sp>
        <p:nvSpPr>
          <p:cNvPr id="22" name="Rounded Rectangle 21"/>
          <p:cNvSpPr/>
          <p:nvPr/>
        </p:nvSpPr>
        <p:spPr>
          <a:xfrm>
            <a:off x="8138160" y="1280160"/>
            <a:ext cx="3566160" cy="3200400"/>
          </a:xfrm>
          <a:prstGeom prst="roundRect">
            <a:avLst/>
          </a:prstGeom>
          <a:solidFill>
            <a:srgbClr val="2A2A2F"/>
          </a:solidFill>
          <a:ln w="2540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38160" y="1280160"/>
            <a:ext cx="3566160" cy="457200"/>
          </a:xfrm>
          <a:prstGeom prst="roundRect">
            <a:avLst/>
          </a:prstGeom>
          <a:solidFill>
            <a:srgbClr val="7209B7"/>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300" b="1">
                <a:solidFill>
                  <a:srgbClr val="FFFFFF"/>
                </a:solidFill>
                <a:latin typeface="Calibri"/>
              </a:defRPr>
            </a:pPr>
            <a:r>
              <a:t>OPERATIONAL IMPACT</a:t>
            </a:r>
          </a:p>
        </p:txBody>
      </p:sp>
      <p:sp>
        <p:nvSpPr>
          <p:cNvPr id="24" name="TextBox 23"/>
          <p:cNvSpPr txBox="1"/>
          <p:nvPr/>
        </p:nvSpPr>
        <p:spPr>
          <a:xfrm>
            <a:off x="8321040" y="1920240"/>
            <a:ext cx="1097280" cy="457200"/>
          </a:xfrm>
          <a:prstGeom prst="rect">
            <a:avLst/>
          </a:prstGeom>
          <a:noFill/>
        </p:spPr>
        <p:txBody>
          <a:bodyPr wrap="square">
            <a:noAutofit/>
          </a:bodyPr>
          <a:lstStyle/>
          <a:p>
            <a:pPr algn="l">
              <a:spcBef>
                <a:spcPts val="0"/>
              </a:spcBef>
              <a:spcAft>
                <a:spcPts val="0"/>
              </a:spcAft>
              <a:defRPr sz="2200" b="1">
                <a:solidFill>
                  <a:srgbClr val="7209B7"/>
                </a:solidFill>
                <a:latin typeface="Calibri"/>
              </a:defRPr>
            </a:pPr>
            <a:r>
              <a:t>100%</a:t>
            </a:r>
          </a:p>
        </p:txBody>
      </p:sp>
      <p:sp>
        <p:nvSpPr>
          <p:cNvPr id="25" name="TextBox 24"/>
          <p:cNvSpPr txBox="1"/>
          <p:nvPr/>
        </p:nvSpPr>
        <p:spPr>
          <a:xfrm>
            <a:off x="9418320" y="1920240"/>
            <a:ext cx="2103120" cy="274320"/>
          </a:xfrm>
          <a:prstGeom prst="rect">
            <a:avLst/>
          </a:prstGeom>
          <a:noFill/>
        </p:spPr>
        <p:txBody>
          <a:bodyPr wrap="square">
            <a:noAutofit/>
          </a:bodyPr>
          <a:lstStyle/>
          <a:p>
            <a:pPr algn="l">
              <a:spcBef>
                <a:spcPts val="0"/>
              </a:spcBef>
              <a:spcAft>
                <a:spcPts val="0"/>
              </a:spcAft>
              <a:defRPr sz="1200" b="1">
                <a:solidFill>
                  <a:srgbClr val="FFFFFF"/>
                </a:solidFill>
                <a:latin typeface="Calibri"/>
              </a:defRPr>
            </a:pPr>
            <a:r>
              <a:t>Autonomous Resolution</a:t>
            </a:r>
          </a:p>
        </p:txBody>
      </p:sp>
      <p:sp>
        <p:nvSpPr>
          <p:cNvPr id="26" name="TextBox 25"/>
          <p:cNvSpPr txBox="1"/>
          <p:nvPr/>
        </p:nvSpPr>
        <p:spPr>
          <a:xfrm>
            <a:off x="9418320" y="2194560"/>
            <a:ext cx="2103120" cy="274320"/>
          </a:xfrm>
          <a:prstGeom prst="rect">
            <a:avLst/>
          </a:prstGeom>
          <a:noFill/>
        </p:spPr>
        <p:txBody>
          <a:bodyPr wrap="square">
            <a:noAutofit/>
          </a:bodyPr>
          <a:lstStyle/>
          <a:p>
            <a:pPr algn="l">
              <a:spcBef>
                <a:spcPts val="0"/>
              </a:spcBef>
              <a:spcAft>
                <a:spcPts val="0"/>
              </a:spcAft>
              <a:defRPr sz="1000" b="0">
                <a:solidFill>
                  <a:srgbClr val="A0A0A0"/>
                </a:solidFill>
                <a:latin typeface="Calibri"/>
              </a:defRPr>
            </a:pPr>
            <a:r>
              <a:t>(17/17 incidents)</a:t>
            </a:r>
          </a:p>
        </p:txBody>
      </p:sp>
      <p:sp>
        <p:nvSpPr>
          <p:cNvPr id="27" name="TextBox 26"/>
          <p:cNvSpPr txBox="1"/>
          <p:nvPr/>
        </p:nvSpPr>
        <p:spPr>
          <a:xfrm>
            <a:off x="8321040" y="2788920"/>
            <a:ext cx="1097280" cy="457200"/>
          </a:xfrm>
          <a:prstGeom prst="rect">
            <a:avLst/>
          </a:prstGeom>
          <a:noFill/>
        </p:spPr>
        <p:txBody>
          <a:bodyPr wrap="square">
            <a:noAutofit/>
          </a:bodyPr>
          <a:lstStyle/>
          <a:p>
            <a:pPr algn="l">
              <a:spcBef>
                <a:spcPts val="0"/>
              </a:spcBef>
              <a:spcAft>
                <a:spcPts val="0"/>
              </a:spcAft>
              <a:defRPr sz="2200" b="1">
                <a:solidFill>
                  <a:srgbClr val="7209B7"/>
                </a:solidFill>
                <a:latin typeface="Calibri"/>
              </a:defRPr>
            </a:pPr>
            <a:r>
              <a:t>48</a:t>
            </a:r>
          </a:p>
        </p:txBody>
      </p:sp>
      <p:sp>
        <p:nvSpPr>
          <p:cNvPr id="28" name="TextBox 27"/>
          <p:cNvSpPr txBox="1"/>
          <p:nvPr/>
        </p:nvSpPr>
        <p:spPr>
          <a:xfrm>
            <a:off x="9418320" y="2788920"/>
            <a:ext cx="2103120" cy="274320"/>
          </a:xfrm>
          <a:prstGeom prst="rect">
            <a:avLst/>
          </a:prstGeom>
          <a:noFill/>
        </p:spPr>
        <p:txBody>
          <a:bodyPr wrap="square">
            <a:noAutofit/>
          </a:bodyPr>
          <a:lstStyle/>
          <a:p>
            <a:pPr algn="l">
              <a:spcBef>
                <a:spcPts val="0"/>
              </a:spcBef>
              <a:spcAft>
                <a:spcPts val="0"/>
              </a:spcAft>
              <a:defRPr sz="1200" b="1">
                <a:solidFill>
                  <a:srgbClr val="FFFFFF"/>
                </a:solidFill>
                <a:latin typeface="Calibri"/>
              </a:defRPr>
            </a:pPr>
            <a:r>
              <a:t>Total Evaluations</a:t>
            </a:r>
          </a:p>
        </p:txBody>
      </p:sp>
      <p:sp>
        <p:nvSpPr>
          <p:cNvPr id="29" name="TextBox 28"/>
          <p:cNvSpPr txBox="1"/>
          <p:nvPr/>
        </p:nvSpPr>
        <p:spPr>
          <a:xfrm>
            <a:off x="8321040" y="3657600"/>
            <a:ext cx="1097280" cy="457200"/>
          </a:xfrm>
          <a:prstGeom prst="rect">
            <a:avLst/>
          </a:prstGeom>
          <a:noFill/>
        </p:spPr>
        <p:txBody>
          <a:bodyPr wrap="square">
            <a:noAutofit/>
          </a:bodyPr>
          <a:lstStyle/>
          <a:p>
            <a:pPr algn="l">
              <a:spcBef>
                <a:spcPts val="0"/>
              </a:spcBef>
              <a:spcAft>
                <a:spcPts val="0"/>
              </a:spcAft>
              <a:defRPr sz="2200" b="1">
                <a:solidFill>
                  <a:srgbClr val="7209B7"/>
                </a:solidFill>
                <a:latin typeface="Calibri"/>
              </a:defRPr>
            </a:pPr>
            <a:r>
              <a:t>10.1s</a:t>
            </a:r>
          </a:p>
        </p:txBody>
      </p:sp>
      <p:sp>
        <p:nvSpPr>
          <p:cNvPr id="30" name="TextBox 29"/>
          <p:cNvSpPr txBox="1"/>
          <p:nvPr/>
        </p:nvSpPr>
        <p:spPr>
          <a:xfrm>
            <a:off x="9418320" y="3657600"/>
            <a:ext cx="2103120" cy="274320"/>
          </a:xfrm>
          <a:prstGeom prst="rect">
            <a:avLst/>
          </a:prstGeom>
          <a:noFill/>
        </p:spPr>
        <p:txBody>
          <a:bodyPr wrap="square">
            <a:noAutofit/>
          </a:bodyPr>
          <a:lstStyle/>
          <a:p>
            <a:pPr algn="l">
              <a:spcBef>
                <a:spcPts val="0"/>
              </a:spcBef>
              <a:spcAft>
                <a:spcPts val="0"/>
              </a:spcAft>
              <a:defRPr sz="1200" b="1">
                <a:solidFill>
                  <a:srgbClr val="FFFFFF"/>
                </a:solidFill>
                <a:latin typeface="Calibri"/>
              </a:defRPr>
            </a:pPr>
            <a:r>
              <a:t>Avg Recovery Time</a:t>
            </a:r>
          </a:p>
        </p:txBody>
      </p:sp>
      <p:sp>
        <p:nvSpPr>
          <p:cNvPr id="31" name="TextBox 30"/>
          <p:cNvSpPr txBox="1"/>
          <p:nvPr/>
        </p:nvSpPr>
        <p:spPr>
          <a:xfrm>
            <a:off x="9418320" y="3931920"/>
            <a:ext cx="2103120" cy="274320"/>
          </a:xfrm>
          <a:prstGeom prst="rect">
            <a:avLst/>
          </a:prstGeom>
          <a:noFill/>
        </p:spPr>
        <p:txBody>
          <a:bodyPr wrap="square">
            <a:noAutofit/>
          </a:bodyPr>
          <a:lstStyle/>
          <a:p>
            <a:pPr algn="l">
              <a:spcBef>
                <a:spcPts val="0"/>
              </a:spcBef>
              <a:spcAft>
                <a:spcPts val="0"/>
              </a:spcAft>
              <a:defRPr sz="1000" b="0">
                <a:solidFill>
                  <a:srgbClr val="A0A0A0"/>
                </a:solidFill>
                <a:latin typeface="Calibri"/>
              </a:defRPr>
            </a:pPr>
            <a:r>
              <a:t>(successful)</a:t>
            </a:r>
          </a:p>
        </p:txBody>
      </p:sp>
      <p:sp>
        <p:nvSpPr>
          <p:cNvPr id="32" name="Rounded Rectangle 31"/>
          <p:cNvSpPr/>
          <p:nvPr/>
        </p:nvSpPr>
        <p:spPr>
          <a:xfrm>
            <a:off x="457200" y="4846320"/>
            <a:ext cx="2697480" cy="822960"/>
          </a:xfrm>
          <a:prstGeom prst="roundRect">
            <a:avLst/>
          </a:prstGeom>
          <a:solidFill>
            <a:srgbClr val="17171B"/>
          </a:solidFill>
          <a:ln w="1905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457B9D"/>
                </a:solidFill>
                <a:latin typeface="Calibri"/>
              </a:defRPr>
            </a:pPr>
            <a:r>
              <a:t>Dependency</a:t>
            </a:r>
          </a:p>
          <a:p>
            <a:pPr algn="ctr">
              <a:spcBef>
                <a:spcPts val="100"/>
              </a:spcBef>
              <a:spcAft>
                <a:spcPts val="200"/>
              </a:spcAft>
              <a:defRPr sz="1300" b="1">
                <a:solidFill>
                  <a:srgbClr val="FFFFFF"/>
                </a:solidFill>
                <a:latin typeface="Calibri"/>
              </a:defRPr>
            </a:pPr>
            <a:r>
              <a:t>correlation: 92%</a:t>
            </a:r>
          </a:p>
        </p:txBody>
      </p:sp>
      <p:sp>
        <p:nvSpPr>
          <p:cNvPr id="33" name="Rounded Rectangle 32"/>
          <p:cNvSpPr/>
          <p:nvPr/>
        </p:nvSpPr>
        <p:spPr>
          <a:xfrm>
            <a:off x="3337560" y="4846320"/>
            <a:ext cx="2697480" cy="822960"/>
          </a:xfrm>
          <a:prstGeom prst="roundRect">
            <a:avLst/>
          </a:prstGeom>
          <a:solidFill>
            <a:srgbClr val="17171B"/>
          </a:solidFill>
          <a:ln w="1905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06A77D"/>
                </a:solidFill>
                <a:latin typeface="Calibri"/>
              </a:defRPr>
            </a:pPr>
            <a:r>
              <a:t>Confidence gate</a:t>
            </a:r>
          </a:p>
          <a:p>
            <a:pPr algn="ctr">
              <a:spcBef>
                <a:spcPts val="100"/>
              </a:spcBef>
              <a:spcAft>
                <a:spcPts val="200"/>
              </a:spcAft>
              <a:defRPr sz="1300" b="1">
                <a:solidFill>
                  <a:srgbClr val="FFFFFF"/>
                </a:solidFill>
                <a:latin typeface="Calibri"/>
              </a:defRPr>
            </a:pPr>
            <a:r>
              <a:t>precision: 88%</a:t>
            </a:r>
          </a:p>
        </p:txBody>
      </p:sp>
      <p:sp>
        <p:nvSpPr>
          <p:cNvPr id="34" name="Rounded Rectangle 33"/>
          <p:cNvSpPr/>
          <p:nvPr/>
        </p:nvSpPr>
        <p:spPr>
          <a:xfrm>
            <a:off x="6217920" y="4846320"/>
            <a:ext cx="2697480" cy="822960"/>
          </a:xfrm>
          <a:prstGeom prst="roundRect">
            <a:avLst/>
          </a:prstGeom>
          <a:solidFill>
            <a:srgbClr val="17171B"/>
          </a:solidFill>
          <a:ln w="1905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F77F00"/>
                </a:solidFill>
                <a:latin typeface="Calibri"/>
              </a:defRPr>
            </a:pPr>
            <a:r>
              <a:t>False positive</a:t>
            </a:r>
          </a:p>
          <a:p>
            <a:pPr algn="ctr">
              <a:spcBef>
                <a:spcPts val="100"/>
              </a:spcBef>
              <a:spcAft>
                <a:spcPts val="200"/>
              </a:spcAft>
              <a:defRPr sz="1300" b="1">
                <a:solidFill>
                  <a:srgbClr val="FFFFFF"/>
                </a:solidFill>
                <a:latin typeface="Calibri"/>
              </a:defRPr>
            </a:pPr>
            <a:r>
              <a:t>rate: 4%</a:t>
            </a:r>
          </a:p>
        </p:txBody>
      </p:sp>
      <p:sp>
        <p:nvSpPr>
          <p:cNvPr id="35" name="Rounded Rectangle 34"/>
          <p:cNvSpPr/>
          <p:nvPr/>
        </p:nvSpPr>
        <p:spPr>
          <a:xfrm>
            <a:off x="9098280" y="4846320"/>
            <a:ext cx="2697480" cy="822960"/>
          </a:xfrm>
          <a:prstGeom prst="roundRect">
            <a:avLst/>
          </a:prstGeom>
          <a:solidFill>
            <a:srgbClr val="17171B"/>
          </a:solidFill>
          <a:ln w="1905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7209B7"/>
                </a:solidFill>
                <a:latin typeface="Calibri"/>
              </a:defRPr>
            </a:pPr>
            <a:r>
              <a:t>Avg recovery</a:t>
            </a:r>
          </a:p>
          <a:p>
            <a:pPr algn="ctr">
              <a:spcBef>
                <a:spcPts val="100"/>
              </a:spcBef>
              <a:spcAft>
                <a:spcPts val="200"/>
              </a:spcAft>
              <a:defRPr sz="1300" b="1">
                <a:solidFill>
                  <a:srgbClr val="FFFFFF"/>
                </a:solidFill>
                <a:latin typeface="Calibri"/>
              </a:defRPr>
            </a:pPr>
            <a:r>
              <a:t>time: 10.1s</a:t>
            </a:r>
          </a:p>
        </p:txBody>
      </p:sp>
      <p:sp>
        <p:nvSpPr>
          <p:cNvPr id="36" name="TextBox 35"/>
          <p:cNvSpPr txBox="1"/>
          <p:nvPr/>
        </p:nvSpPr>
        <p:spPr>
          <a:xfrm>
            <a:off x="457200" y="5943600"/>
            <a:ext cx="10972800" cy="365760"/>
          </a:xfrm>
          <a:prstGeom prst="rect">
            <a:avLst/>
          </a:prstGeom>
          <a:noFill/>
        </p:spPr>
        <p:txBody>
          <a:bodyPr wrap="square">
            <a:noAutofit/>
          </a:bodyPr>
          <a:lstStyle/>
          <a:p>
            <a:pPr algn="ctr">
              <a:spcBef>
                <a:spcPts val="0"/>
              </a:spcBef>
              <a:spcAft>
                <a:spcPts val="0"/>
              </a:spcAft>
              <a:defRPr sz="1100" b="0">
                <a:solidFill>
                  <a:srgbClr val="A0A0A0"/>
                </a:solidFill>
                <a:latin typeface="Calibri"/>
              </a:defRPr>
            </a:pPr>
            <a:r>
              <a:t>All metrics from live incident data  ·  17 total incidents  ·  48 evaluations  ·  PostgreSQL-backed</a:t>
            </a:r>
          </a:p>
        </p:txBody>
      </p:sp>
      <p:sp>
        <p:nvSpPr>
          <p:cNvPr id="37" name="TextBox 36"/>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Systems in Action: Three Scenarios</a:t>
            </a:r>
          </a:p>
        </p:txBody>
      </p:sp>
      <p:sp>
        <p:nvSpPr>
          <p:cNvPr id="5" name="Rounded Rectangle 4"/>
          <p:cNvSpPr/>
          <p:nvPr/>
        </p:nvSpPr>
        <p:spPr>
          <a:xfrm>
            <a:off x="457200" y="1371600"/>
            <a:ext cx="3566160" cy="4754880"/>
          </a:xfrm>
          <a:prstGeom prst="roundRect">
            <a:avLst/>
          </a:prstGeom>
          <a:solidFill>
            <a:srgbClr val="2A2A2F"/>
          </a:solidFill>
          <a:ln w="254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3566160" cy="54864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500" b="1">
                <a:solidFill>
                  <a:srgbClr val="FFFFFF"/>
                </a:solidFill>
                <a:latin typeface="Calibri"/>
              </a:defRPr>
            </a:pPr>
            <a:r>
              <a:t>⚡  Redis Failure</a:t>
            </a:r>
          </a:p>
        </p:txBody>
      </p:sp>
      <p:sp>
        <p:nvSpPr>
          <p:cNvPr id="7" name="Oval 6"/>
          <p:cNvSpPr/>
          <p:nvPr/>
        </p:nvSpPr>
        <p:spPr>
          <a:xfrm>
            <a:off x="685800" y="2148839"/>
            <a:ext cx="320040" cy="320040"/>
          </a:xfrm>
          <a:prstGeom prst="ellipse">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1</a:t>
            </a:r>
          </a:p>
        </p:txBody>
      </p:sp>
      <p:sp>
        <p:nvSpPr>
          <p:cNvPr id="8" name="TextBox 7"/>
          <p:cNvSpPr txBox="1"/>
          <p:nvPr/>
        </p:nvSpPr>
        <p:spPr>
          <a:xfrm>
            <a:off x="1097280" y="2057400"/>
            <a:ext cx="1188720" cy="274320"/>
          </a:xfrm>
          <a:prstGeom prst="rect">
            <a:avLst/>
          </a:prstGeom>
          <a:noFill/>
        </p:spPr>
        <p:txBody>
          <a:bodyPr wrap="square">
            <a:noAutofit/>
          </a:bodyPr>
          <a:lstStyle/>
          <a:p>
            <a:pPr algn="l">
              <a:spcBef>
                <a:spcPts val="0"/>
              </a:spcBef>
              <a:spcAft>
                <a:spcPts val="0"/>
              </a:spcAft>
              <a:defRPr sz="1200" b="1">
                <a:solidFill>
                  <a:srgbClr val="E63946"/>
                </a:solidFill>
                <a:latin typeface="Calibri"/>
              </a:defRPr>
            </a:pPr>
            <a:r>
              <a:t>Detection</a:t>
            </a:r>
          </a:p>
        </p:txBody>
      </p:sp>
      <p:sp>
        <p:nvSpPr>
          <p:cNvPr id="9" name="TextBox 8"/>
          <p:cNvSpPr txBox="1"/>
          <p:nvPr/>
        </p:nvSpPr>
        <p:spPr>
          <a:xfrm>
            <a:off x="1097280" y="233172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Pod crash detected</a:t>
            </a:r>
          </a:p>
        </p:txBody>
      </p:sp>
      <p:cxnSp>
        <p:nvCxnSpPr>
          <p:cNvPr id="10" name="Connector 9"/>
          <p:cNvCxnSpPr/>
          <p:nvPr/>
        </p:nvCxnSpPr>
        <p:spPr>
          <a:xfrm>
            <a:off x="841247" y="2514600"/>
            <a:ext cx="0" cy="338327"/>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85800" y="2926079"/>
            <a:ext cx="320040" cy="320040"/>
          </a:xfrm>
          <a:prstGeom prst="ellipse">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2</a:t>
            </a:r>
          </a:p>
        </p:txBody>
      </p:sp>
      <p:sp>
        <p:nvSpPr>
          <p:cNvPr id="12" name="TextBox 11"/>
          <p:cNvSpPr txBox="1"/>
          <p:nvPr/>
        </p:nvSpPr>
        <p:spPr>
          <a:xfrm>
            <a:off x="1097280" y="2834640"/>
            <a:ext cx="1188720" cy="274320"/>
          </a:xfrm>
          <a:prstGeom prst="rect">
            <a:avLst/>
          </a:prstGeom>
          <a:noFill/>
        </p:spPr>
        <p:txBody>
          <a:bodyPr wrap="square">
            <a:noAutofit/>
          </a:bodyPr>
          <a:lstStyle/>
          <a:p>
            <a:pPr algn="l">
              <a:spcBef>
                <a:spcPts val="0"/>
              </a:spcBef>
              <a:spcAft>
                <a:spcPts val="0"/>
              </a:spcAft>
              <a:defRPr sz="1200" b="1">
                <a:solidFill>
                  <a:srgbClr val="E63946"/>
                </a:solidFill>
                <a:latin typeface="Calibri"/>
              </a:defRPr>
            </a:pPr>
            <a:r>
              <a:t>RCA</a:t>
            </a:r>
          </a:p>
        </p:txBody>
      </p:sp>
      <p:sp>
        <p:nvSpPr>
          <p:cNvPr id="13" name="TextBox 12"/>
          <p:cNvSpPr txBox="1"/>
          <p:nvPr/>
        </p:nvSpPr>
        <p:spPr>
          <a:xfrm>
            <a:off x="1097280" y="310896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redis-cart identified</a:t>
            </a:r>
          </a:p>
        </p:txBody>
      </p:sp>
      <p:cxnSp>
        <p:nvCxnSpPr>
          <p:cNvPr id="14" name="Connector 13"/>
          <p:cNvCxnSpPr/>
          <p:nvPr/>
        </p:nvCxnSpPr>
        <p:spPr>
          <a:xfrm>
            <a:off x="841247" y="3291840"/>
            <a:ext cx="0" cy="338328"/>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85800" y="3703320"/>
            <a:ext cx="320040" cy="320040"/>
          </a:xfrm>
          <a:prstGeom prst="ellipse">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3</a:t>
            </a:r>
          </a:p>
        </p:txBody>
      </p:sp>
      <p:sp>
        <p:nvSpPr>
          <p:cNvPr id="16" name="TextBox 15"/>
          <p:cNvSpPr txBox="1"/>
          <p:nvPr/>
        </p:nvSpPr>
        <p:spPr>
          <a:xfrm>
            <a:off x="1097280" y="3611880"/>
            <a:ext cx="1188720" cy="274320"/>
          </a:xfrm>
          <a:prstGeom prst="rect">
            <a:avLst/>
          </a:prstGeom>
          <a:noFill/>
        </p:spPr>
        <p:txBody>
          <a:bodyPr wrap="square">
            <a:noAutofit/>
          </a:bodyPr>
          <a:lstStyle/>
          <a:p>
            <a:pPr algn="l">
              <a:spcBef>
                <a:spcPts val="0"/>
              </a:spcBef>
              <a:spcAft>
                <a:spcPts val="0"/>
              </a:spcAft>
              <a:defRPr sz="1200" b="1">
                <a:solidFill>
                  <a:srgbClr val="E63946"/>
                </a:solidFill>
                <a:latin typeface="Calibri"/>
              </a:defRPr>
            </a:pPr>
            <a:r>
              <a:t>Action</a:t>
            </a:r>
          </a:p>
        </p:txBody>
      </p:sp>
      <p:sp>
        <p:nvSpPr>
          <p:cNvPr id="17" name="TextBox 16"/>
          <p:cNvSpPr txBox="1"/>
          <p:nvPr/>
        </p:nvSpPr>
        <p:spPr>
          <a:xfrm>
            <a:off x="1097280" y="388620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Restart pod</a:t>
            </a:r>
          </a:p>
        </p:txBody>
      </p:sp>
      <p:cxnSp>
        <p:nvCxnSpPr>
          <p:cNvPr id="18" name="Connector 17"/>
          <p:cNvCxnSpPr/>
          <p:nvPr/>
        </p:nvCxnSpPr>
        <p:spPr>
          <a:xfrm>
            <a:off x="841247" y="4069080"/>
            <a:ext cx="0" cy="338328"/>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85800" y="4480559"/>
            <a:ext cx="320040" cy="320040"/>
          </a:xfrm>
          <a:prstGeom prst="ellipse">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4</a:t>
            </a:r>
          </a:p>
        </p:txBody>
      </p:sp>
      <p:sp>
        <p:nvSpPr>
          <p:cNvPr id="20" name="TextBox 19"/>
          <p:cNvSpPr txBox="1"/>
          <p:nvPr/>
        </p:nvSpPr>
        <p:spPr>
          <a:xfrm>
            <a:off x="1097280" y="4389120"/>
            <a:ext cx="1188720" cy="274320"/>
          </a:xfrm>
          <a:prstGeom prst="rect">
            <a:avLst/>
          </a:prstGeom>
          <a:noFill/>
        </p:spPr>
        <p:txBody>
          <a:bodyPr wrap="square">
            <a:noAutofit/>
          </a:bodyPr>
          <a:lstStyle/>
          <a:p>
            <a:pPr algn="l">
              <a:spcBef>
                <a:spcPts val="0"/>
              </a:spcBef>
              <a:spcAft>
                <a:spcPts val="0"/>
              </a:spcAft>
              <a:defRPr sz="1200" b="1">
                <a:solidFill>
                  <a:srgbClr val="E63946"/>
                </a:solidFill>
                <a:latin typeface="Calibri"/>
              </a:defRPr>
            </a:pPr>
            <a:r>
              <a:t>Verify</a:t>
            </a:r>
          </a:p>
        </p:txBody>
      </p:sp>
      <p:sp>
        <p:nvSpPr>
          <p:cNvPr id="21" name="TextBox 20"/>
          <p:cNvSpPr txBox="1"/>
          <p:nvPr/>
        </p:nvSpPr>
        <p:spPr>
          <a:xfrm>
            <a:off x="1097280" y="466344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Health check passed</a:t>
            </a:r>
          </a:p>
        </p:txBody>
      </p:sp>
      <p:cxnSp>
        <p:nvCxnSpPr>
          <p:cNvPr id="22" name="Connector 21"/>
          <p:cNvCxnSpPr/>
          <p:nvPr/>
        </p:nvCxnSpPr>
        <p:spPr>
          <a:xfrm>
            <a:off x="841247" y="4846320"/>
            <a:ext cx="0" cy="338328"/>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685800" y="5257799"/>
            <a:ext cx="320040" cy="320040"/>
          </a:xfrm>
          <a:prstGeom prst="ellipse">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5</a:t>
            </a:r>
          </a:p>
        </p:txBody>
      </p:sp>
      <p:sp>
        <p:nvSpPr>
          <p:cNvPr id="24" name="TextBox 23"/>
          <p:cNvSpPr txBox="1"/>
          <p:nvPr/>
        </p:nvSpPr>
        <p:spPr>
          <a:xfrm>
            <a:off x="1097280" y="5166359"/>
            <a:ext cx="1188720" cy="274320"/>
          </a:xfrm>
          <a:prstGeom prst="rect">
            <a:avLst/>
          </a:prstGeom>
          <a:noFill/>
        </p:spPr>
        <p:txBody>
          <a:bodyPr wrap="square">
            <a:noAutofit/>
          </a:bodyPr>
          <a:lstStyle/>
          <a:p>
            <a:pPr algn="l">
              <a:spcBef>
                <a:spcPts val="0"/>
              </a:spcBef>
              <a:spcAft>
                <a:spcPts val="0"/>
              </a:spcAft>
              <a:defRPr sz="1200" b="1">
                <a:solidFill>
                  <a:srgbClr val="E63946"/>
                </a:solidFill>
                <a:latin typeface="Calibri"/>
              </a:defRPr>
            </a:pPr>
            <a:r>
              <a:t>Result</a:t>
            </a:r>
          </a:p>
        </p:txBody>
      </p:sp>
      <p:sp>
        <p:nvSpPr>
          <p:cNvPr id="25" name="TextBox 24"/>
          <p:cNvSpPr txBox="1"/>
          <p:nvPr/>
        </p:nvSpPr>
        <p:spPr>
          <a:xfrm>
            <a:off x="1097280" y="5440679"/>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Resolved in 15s</a:t>
            </a:r>
          </a:p>
        </p:txBody>
      </p:sp>
      <p:sp>
        <p:nvSpPr>
          <p:cNvPr id="26" name="Rounded Rectangle 25"/>
          <p:cNvSpPr/>
          <p:nvPr/>
        </p:nvSpPr>
        <p:spPr>
          <a:xfrm>
            <a:off x="4297680" y="1371600"/>
            <a:ext cx="3566160" cy="4754880"/>
          </a:xfrm>
          <a:prstGeom prst="roundRect">
            <a:avLst/>
          </a:prstGeom>
          <a:solidFill>
            <a:srgbClr val="2A2A2F"/>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297680" y="1371600"/>
            <a:ext cx="3566160" cy="548640"/>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500" b="1">
                <a:solidFill>
                  <a:srgbClr val="FFFFFF"/>
                </a:solidFill>
                <a:latin typeface="Calibri"/>
              </a:defRPr>
            </a:pPr>
            <a:r>
              <a:t>🔗  Cascading Frontend</a:t>
            </a:r>
          </a:p>
        </p:txBody>
      </p:sp>
      <p:sp>
        <p:nvSpPr>
          <p:cNvPr id="28" name="Oval 27"/>
          <p:cNvSpPr/>
          <p:nvPr/>
        </p:nvSpPr>
        <p:spPr>
          <a:xfrm>
            <a:off x="4526280" y="2148839"/>
            <a:ext cx="320040" cy="320040"/>
          </a:xfrm>
          <a:prstGeom prst="ellipse">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1</a:t>
            </a:r>
          </a:p>
        </p:txBody>
      </p:sp>
      <p:sp>
        <p:nvSpPr>
          <p:cNvPr id="29" name="TextBox 28"/>
          <p:cNvSpPr txBox="1"/>
          <p:nvPr/>
        </p:nvSpPr>
        <p:spPr>
          <a:xfrm>
            <a:off x="4937760" y="2057400"/>
            <a:ext cx="1188720" cy="274320"/>
          </a:xfrm>
          <a:prstGeom prst="rect">
            <a:avLst/>
          </a:prstGeom>
          <a:noFill/>
        </p:spPr>
        <p:txBody>
          <a:bodyPr wrap="square">
            <a:noAutofit/>
          </a:bodyPr>
          <a:lstStyle/>
          <a:p>
            <a:pPr algn="l">
              <a:spcBef>
                <a:spcPts val="0"/>
              </a:spcBef>
              <a:spcAft>
                <a:spcPts val="0"/>
              </a:spcAft>
              <a:defRPr sz="1200" b="1">
                <a:solidFill>
                  <a:srgbClr val="F77F00"/>
                </a:solidFill>
                <a:latin typeface="Calibri"/>
              </a:defRPr>
            </a:pPr>
            <a:r>
              <a:t>Symptom</a:t>
            </a:r>
          </a:p>
        </p:txBody>
      </p:sp>
      <p:sp>
        <p:nvSpPr>
          <p:cNvPr id="30" name="TextBox 29"/>
          <p:cNvSpPr txBox="1"/>
          <p:nvPr/>
        </p:nvSpPr>
        <p:spPr>
          <a:xfrm>
            <a:off x="4937760" y="233172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Frontend 500 errors</a:t>
            </a:r>
          </a:p>
        </p:txBody>
      </p:sp>
      <p:cxnSp>
        <p:nvCxnSpPr>
          <p:cNvPr id="31" name="Connector 30"/>
          <p:cNvCxnSpPr/>
          <p:nvPr/>
        </p:nvCxnSpPr>
        <p:spPr>
          <a:xfrm>
            <a:off x="4681728" y="2514600"/>
            <a:ext cx="0" cy="338327"/>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4526280" y="2926079"/>
            <a:ext cx="320040" cy="320040"/>
          </a:xfrm>
          <a:prstGeom prst="ellipse">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2</a:t>
            </a:r>
          </a:p>
        </p:txBody>
      </p:sp>
      <p:sp>
        <p:nvSpPr>
          <p:cNvPr id="33" name="TextBox 32"/>
          <p:cNvSpPr txBox="1"/>
          <p:nvPr/>
        </p:nvSpPr>
        <p:spPr>
          <a:xfrm>
            <a:off x="4937760" y="2834640"/>
            <a:ext cx="1188720" cy="274320"/>
          </a:xfrm>
          <a:prstGeom prst="rect">
            <a:avLst/>
          </a:prstGeom>
          <a:noFill/>
        </p:spPr>
        <p:txBody>
          <a:bodyPr wrap="square">
            <a:noAutofit/>
          </a:bodyPr>
          <a:lstStyle/>
          <a:p>
            <a:pPr algn="l">
              <a:spcBef>
                <a:spcPts val="0"/>
              </a:spcBef>
              <a:spcAft>
                <a:spcPts val="0"/>
              </a:spcAft>
              <a:defRPr sz="1200" b="1">
                <a:solidFill>
                  <a:srgbClr val="F77F00"/>
                </a:solidFill>
                <a:latin typeface="Calibri"/>
              </a:defRPr>
            </a:pPr>
            <a:r>
              <a:t>Trace</a:t>
            </a:r>
          </a:p>
        </p:txBody>
      </p:sp>
      <p:sp>
        <p:nvSpPr>
          <p:cNvPr id="34" name="TextBox 33"/>
          <p:cNvSpPr txBox="1"/>
          <p:nvPr/>
        </p:nvSpPr>
        <p:spPr>
          <a:xfrm>
            <a:off x="4937760" y="310896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Frontend → CartService</a:t>
            </a:r>
          </a:p>
        </p:txBody>
      </p:sp>
      <p:cxnSp>
        <p:nvCxnSpPr>
          <p:cNvPr id="35" name="Connector 34"/>
          <p:cNvCxnSpPr/>
          <p:nvPr/>
        </p:nvCxnSpPr>
        <p:spPr>
          <a:xfrm>
            <a:off x="4681728" y="3291840"/>
            <a:ext cx="0" cy="338328"/>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4526280" y="3703320"/>
            <a:ext cx="320040" cy="320040"/>
          </a:xfrm>
          <a:prstGeom prst="ellipse">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3</a:t>
            </a:r>
          </a:p>
        </p:txBody>
      </p:sp>
      <p:sp>
        <p:nvSpPr>
          <p:cNvPr id="37" name="TextBox 36"/>
          <p:cNvSpPr txBox="1"/>
          <p:nvPr/>
        </p:nvSpPr>
        <p:spPr>
          <a:xfrm>
            <a:off x="4937760" y="3611880"/>
            <a:ext cx="1188720" cy="274320"/>
          </a:xfrm>
          <a:prstGeom prst="rect">
            <a:avLst/>
          </a:prstGeom>
          <a:noFill/>
        </p:spPr>
        <p:txBody>
          <a:bodyPr wrap="square">
            <a:noAutofit/>
          </a:bodyPr>
          <a:lstStyle/>
          <a:p>
            <a:pPr algn="l">
              <a:spcBef>
                <a:spcPts val="0"/>
              </a:spcBef>
              <a:spcAft>
                <a:spcPts val="0"/>
              </a:spcAft>
              <a:defRPr sz="1200" b="1">
                <a:solidFill>
                  <a:srgbClr val="F77F00"/>
                </a:solidFill>
                <a:latin typeface="Calibri"/>
              </a:defRPr>
            </a:pPr>
            <a:r>
              <a:t>Root</a:t>
            </a:r>
          </a:p>
        </p:txBody>
      </p:sp>
      <p:sp>
        <p:nvSpPr>
          <p:cNvPr id="38" name="TextBox 37"/>
          <p:cNvSpPr txBox="1"/>
          <p:nvPr/>
        </p:nvSpPr>
        <p:spPr>
          <a:xfrm>
            <a:off x="4937760" y="388620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Redis-Cart failure</a:t>
            </a:r>
          </a:p>
        </p:txBody>
      </p:sp>
      <p:cxnSp>
        <p:nvCxnSpPr>
          <p:cNvPr id="39" name="Connector 38"/>
          <p:cNvCxnSpPr/>
          <p:nvPr/>
        </p:nvCxnSpPr>
        <p:spPr>
          <a:xfrm>
            <a:off x="4681728" y="4069080"/>
            <a:ext cx="0" cy="338328"/>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4526280" y="4480559"/>
            <a:ext cx="320040" cy="320040"/>
          </a:xfrm>
          <a:prstGeom prst="ellipse">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4</a:t>
            </a:r>
          </a:p>
        </p:txBody>
      </p:sp>
      <p:sp>
        <p:nvSpPr>
          <p:cNvPr id="41" name="TextBox 40"/>
          <p:cNvSpPr txBox="1"/>
          <p:nvPr/>
        </p:nvSpPr>
        <p:spPr>
          <a:xfrm>
            <a:off x="4937760" y="4389120"/>
            <a:ext cx="1188720" cy="274320"/>
          </a:xfrm>
          <a:prstGeom prst="rect">
            <a:avLst/>
          </a:prstGeom>
          <a:noFill/>
        </p:spPr>
        <p:txBody>
          <a:bodyPr wrap="square">
            <a:noAutofit/>
          </a:bodyPr>
          <a:lstStyle/>
          <a:p>
            <a:pPr algn="l">
              <a:spcBef>
                <a:spcPts val="0"/>
              </a:spcBef>
              <a:spcAft>
                <a:spcPts val="0"/>
              </a:spcAft>
              <a:defRPr sz="1200" b="1">
                <a:solidFill>
                  <a:srgbClr val="F77F00"/>
                </a:solidFill>
                <a:latin typeface="Calibri"/>
              </a:defRPr>
            </a:pPr>
            <a:r>
              <a:t>Fix</a:t>
            </a:r>
          </a:p>
        </p:txBody>
      </p:sp>
      <p:sp>
        <p:nvSpPr>
          <p:cNvPr id="42" name="TextBox 41"/>
          <p:cNvSpPr txBox="1"/>
          <p:nvPr/>
        </p:nvSpPr>
        <p:spPr>
          <a:xfrm>
            <a:off x="4937760" y="466344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Fixed root cause</a:t>
            </a:r>
          </a:p>
        </p:txBody>
      </p:sp>
      <p:cxnSp>
        <p:nvCxnSpPr>
          <p:cNvPr id="43" name="Connector 42"/>
          <p:cNvCxnSpPr/>
          <p:nvPr/>
        </p:nvCxnSpPr>
        <p:spPr>
          <a:xfrm>
            <a:off x="4681728" y="4846320"/>
            <a:ext cx="0" cy="338328"/>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4526280" y="5257799"/>
            <a:ext cx="320040" cy="320040"/>
          </a:xfrm>
          <a:prstGeom prst="ellipse">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5</a:t>
            </a:r>
          </a:p>
        </p:txBody>
      </p:sp>
      <p:sp>
        <p:nvSpPr>
          <p:cNvPr id="45" name="TextBox 44"/>
          <p:cNvSpPr txBox="1"/>
          <p:nvPr/>
        </p:nvSpPr>
        <p:spPr>
          <a:xfrm>
            <a:off x="4937760" y="5166359"/>
            <a:ext cx="1188720" cy="274320"/>
          </a:xfrm>
          <a:prstGeom prst="rect">
            <a:avLst/>
          </a:prstGeom>
          <a:noFill/>
        </p:spPr>
        <p:txBody>
          <a:bodyPr wrap="square">
            <a:noAutofit/>
          </a:bodyPr>
          <a:lstStyle/>
          <a:p>
            <a:pPr algn="l">
              <a:spcBef>
                <a:spcPts val="0"/>
              </a:spcBef>
              <a:spcAft>
                <a:spcPts val="0"/>
              </a:spcAft>
              <a:defRPr sz="1200" b="1">
                <a:solidFill>
                  <a:srgbClr val="F77F00"/>
                </a:solidFill>
                <a:latin typeface="Calibri"/>
              </a:defRPr>
            </a:pPr>
            <a:r>
              <a:t>Result</a:t>
            </a:r>
          </a:p>
        </p:txBody>
      </p:sp>
      <p:sp>
        <p:nvSpPr>
          <p:cNvPr id="46" name="TextBox 45"/>
          <p:cNvSpPr txBox="1"/>
          <p:nvPr/>
        </p:nvSpPr>
        <p:spPr>
          <a:xfrm>
            <a:off x="4937760" y="5440679"/>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3 services recovered</a:t>
            </a:r>
          </a:p>
        </p:txBody>
      </p:sp>
      <p:sp>
        <p:nvSpPr>
          <p:cNvPr id="47" name="Rounded Rectangle 46"/>
          <p:cNvSpPr/>
          <p:nvPr/>
        </p:nvSpPr>
        <p:spPr>
          <a:xfrm>
            <a:off x="8138160" y="1371600"/>
            <a:ext cx="3566160" cy="4754880"/>
          </a:xfrm>
          <a:prstGeom prst="roundRect">
            <a:avLst/>
          </a:prstGeom>
          <a:solidFill>
            <a:srgbClr val="2A2A2F"/>
          </a:solidFill>
          <a:ln w="2540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138160" y="1371600"/>
            <a:ext cx="3566160" cy="548640"/>
          </a:xfrm>
          <a:prstGeom prst="round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500" b="1">
                <a:solidFill>
                  <a:srgbClr val="FFFFFF"/>
                </a:solidFill>
                <a:latin typeface="Calibri"/>
              </a:defRPr>
            </a:pPr>
            <a:r>
              <a:t>📊  Resource Contention</a:t>
            </a:r>
          </a:p>
        </p:txBody>
      </p:sp>
      <p:sp>
        <p:nvSpPr>
          <p:cNvPr id="49" name="Oval 48"/>
          <p:cNvSpPr/>
          <p:nvPr/>
        </p:nvSpPr>
        <p:spPr>
          <a:xfrm>
            <a:off x="8366760" y="2148839"/>
            <a:ext cx="320040" cy="320040"/>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1</a:t>
            </a:r>
          </a:p>
        </p:txBody>
      </p:sp>
      <p:sp>
        <p:nvSpPr>
          <p:cNvPr id="50" name="TextBox 49"/>
          <p:cNvSpPr txBox="1"/>
          <p:nvPr/>
        </p:nvSpPr>
        <p:spPr>
          <a:xfrm>
            <a:off x="8778240" y="2057400"/>
            <a:ext cx="1188720" cy="274320"/>
          </a:xfrm>
          <a:prstGeom prst="rect">
            <a:avLst/>
          </a:prstGeom>
          <a:noFill/>
        </p:spPr>
        <p:txBody>
          <a:bodyPr wrap="square">
            <a:noAutofit/>
          </a:bodyPr>
          <a:lstStyle/>
          <a:p>
            <a:pPr algn="l">
              <a:spcBef>
                <a:spcPts val="0"/>
              </a:spcBef>
              <a:spcAft>
                <a:spcPts val="0"/>
              </a:spcAft>
              <a:defRPr sz="1200" b="1">
                <a:solidFill>
                  <a:srgbClr val="457B9D"/>
                </a:solidFill>
                <a:latin typeface="Calibri"/>
              </a:defRPr>
            </a:pPr>
            <a:r>
              <a:t>Detect</a:t>
            </a:r>
          </a:p>
        </p:txBody>
      </p:sp>
      <p:sp>
        <p:nvSpPr>
          <p:cNvPr id="51" name="TextBox 50"/>
          <p:cNvSpPr txBox="1"/>
          <p:nvPr/>
        </p:nvSpPr>
        <p:spPr>
          <a:xfrm>
            <a:off x="8778240" y="233172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Memory pressure alert</a:t>
            </a:r>
          </a:p>
        </p:txBody>
      </p:sp>
      <p:cxnSp>
        <p:nvCxnSpPr>
          <p:cNvPr id="52" name="Connector 51"/>
          <p:cNvCxnSpPr/>
          <p:nvPr/>
        </p:nvCxnSpPr>
        <p:spPr>
          <a:xfrm>
            <a:off x="8522208" y="2514600"/>
            <a:ext cx="0" cy="338327"/>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8366760" y="2926079"/>
            <a:ext cx="320040" cy="320040"/>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2</a:t>
            </a:r>
          </a:p>
        </p:txBody>
      </p:sp>
      <p:sp>
        <p:nvSpPr>
          <p:cNvPr id="54" name="TextBox 53"/>
          <p:cNvSpPr txBox="1"/>
          <p:nvPr/>
        </p:nvSpPr>
        <p:spPr>
          <a:xfrm>
            <a:off x="8778240" y="2834640"/>
            <a:ext cx="1188720" cy="274320"/>
          </a:xfrm>
          <a:prstGeom prst="rect">
            <a:avLst/>
          </a:prstGeom>
          <a:noFill/>
        </p:spPr>
        <p:txBody>
          <a:bodyPr wrap="square">
            <a:noAutofit/>
          </a:bodyPr>
          <a:lstStyle/>
          <a:p>
            <a:pPr algn="l">
              <a:spcBef>
                <a:spcPts val="0"/>
              </a:spcBef>
              <a:spcAft>
                <a:spcPts val="0"/>
              </a:spcAft>
              <a:defRPr sz="1200" b="1">
                <a:solidFill>
                  <a:srgbClr val="457B9D"/>
                </a:solidFill>
                <a:latin typeface="Calibri"/>
              </a:defRPr>
            </a:pPr>
            <a:r>
              <a:t>History</a:t>
            </a:r>
          </a:p>
        </p:txBody>
      </p:sp>
      <p:sp>
        <p:nvSpPr>
          <p:cNvPr id="55" name="TextBox 54"/>
          <p:cNvSpPr txBox="1"/>
          <p:nvPr/>
        </p:nvSpPr>
        <p:spPr>
          <a:xfrm>
            <a:off x="8778240" y="310896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Check past outcomes</a:t>
            </a:r>
          </a:p>
        </p:txBody>
      </p:sp>
      <p:cxnSp>
        <p:nvCxnSpPr>
          <p:cNvPr id="56" name="Connector 55"/>
          <p:cNvCxnSpPr/>
          <p:nvPr/>
        </p:nvCxnSpPr>
        <p:spPr>
          <a:xfrm>
            <a:off x="8522208" y="3291840"/>
            <a:ext cx="0" cy="338328"/>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8366760" y="3703320"/>
            <a:ext cx="320040" cy="320040"/>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3</a:t>
            </a:r>
          </a:p>
        </p:txBody>
      </p:sp>
      <p:sp>
        <p:nvSpPr>
          <p:cNvPr id="58" name="TextBox 57"/>
          <p:cNvSpPr txBox="1"/>
          <p:nvPr/>
        </p:nvSpPr>
        <p:spPr>
          <a:xfrm>
            <a:off x="8778240" y="3611880"/>
            <a:ext cx="1188720" cy="274320"/>
          </a:xfrm>
          <a:prstGeom prst="rect">
            <a:avLst/>
          </a:prstGeom>
          <a:noFill/>
        </p:spPr>
        <p:txBody>
          <a:bodyPr wrap="square">
            <a:noAutofit/>
          </a:bodyPr>
          <a:lstStyle/>
          <a:p>
            <a:pPr algn="l">
              <a:spcBef>
                <a:spcPts val="0"/>
              </a:spcBef>
              <a:spcAft>
                <a:spcPts val="0"/>
              </a:spcAft>
              <a:defRPr sz="1200" b="1">
                <a:solidFill>
                  <a:srgbClr val="457B9D"/>
                </a:solidFill>
                <a:latin typeface="Calibri"/>
              </a:defRPr>
            </a:pPr>
            <a:r>
              <a:t>Decision</a:t>
            </a:r>
          </a:p>
        </p:txBody>
      </p:sp>
      <p:sp>
        <p:nvSpPr>
          <p:cNvPr id="59" name="TextBox 58"/>
          <p:cNvSpPr txBox="1"/>
          <p:nvPr/>
        </p:nvSpPr>
        <p:spPr>
          <a:xfrm>
            <a:off x="8778240" y="388620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Scale-up &gt; Restart</a:t>
            </a:r>
          </a:p>
        </p:txBody>
      </p:sp>
      <p:cxnSp>
        <p:nvCxnSpPr>
          <p:cNvPr id="60" name="Connector 59"/>
          <p:cNvCxnSpPr/>
          <p:nvPr/>
        </p:nvCxnSpPr>
        <p:spPr>
          <a:xfrm>
            <a:off x="8522208" y="4069080"/>
            <a:ext cx="0" cy="338328"/>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8366760" y="4480559"/>
            <a:ext cx="320040" cy="320040"/>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4</a:t>
            </a:r>
          </a:p>
        </p:txBody>
      </p:sp>
      <p:sp>
        <p:nvSpPr>
          <p:cNvPr id="62" name="TextBox 61"/>
          <p:cNvSpPr txBox="1"/>
          <p:nvPr/>
        </p:nvSpPr>
        <p:spPr>
          <a:xfrm>
            <a:off x="8778240" y="4389120"/>
            <a:ext cx="1188720" cy="274320"/>
          </a:xfrm>
          <a:prstGeom prst="rect">
            <a:avLst/>
          </a:prstGeom>
          <a:noFill/>
        </p:spPr>
        <p:txBody>
          <a:bodyPr wrap="square">
            <a:noAutofit/>
          </a:bodyPr>
          <a:lstStyle/>
          <a:p>
            <a:pPr algn="l">
              <a:spcBef>
                <a:spcPts val="0"/>
              </a:spcBef>
              <a:spcAft>
                <a:spcPts val="0"/>
              </a:spcAft>
              <a:defRPr sz="1200" b="1">
                <a:solidFill>
                  <a:srgbClr val="457B9D"/>
                </a:solidFill>
                <a:latin typeface="Calibri"/>
              </a:defRPr>
            </a:pPr>
            <a:r>
              <a:t>Action</a:t>
            </a:r>
          </a:p>
        </p:txBody>
      </p:sp>
      <p:sp>
        <p:nvSpPr>
          <p:cNvPr id="63" name="TextBox 62"/>
          <p:cNvSpPr txBox="1"/>
          <p:nvPr/>
        </p:nvSpPr>
        <p:spPr>
          <a:xfrm>
            <a:off x="8778240" y="4663440"/>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Scale replicas</a:t>
            </a:r>
          </a:p>
        </p:txBody>
      </p:sp>
      <p:cxnSp>
        <p:nvCxnSpPr>
          <p:cNvPr id="64" name="Connector 63"/>
          <p:cNvCxnSpPr/>
          <p:nvPr/>
        </p:nvCxnSpPr>
        <p:spPr>
          <a:xfrm>
            <a:off x="8522208" y="4846320"/>
            <a:ext cx="0" cy="338328"/>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8366760" y="5257799"/>
            <a:ext cx="320040" cy="320040"/>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FFFFF"/>
                </a:solidFill>
                <a:latin typeface="Calibri"/>
              </a:defRPr>
            </a:pPr>
            <a:r>
              <a:t>5</a:t>
            </a:r>
          </a:p>
        </p:txBody>
      </p:sp>
      <p:sp>
        <p:nvSpPr>
          <p:cNvPr id="66" name="TextBox 65"/>
          <p:cNvSpPr txBox="1"/>
          <p:nvPr/>
        </p:nvSpPr>
        <p:spPr>
          <a:xfrm>
            <a:off x="8778240" y="5166359"/>
            <a:ext cx="1188720" cy="274320"/>
          </a:xfrm>
          <a:prstGeom prst="rect">
            <a:avLst/>
          </a:prstGeom>
          <a:noFill/>
        </p:spPr>
        <p:txBody>
          <a:bodyPr wrap="square">
            <a:noAutofit/>
          </a:bodyPr>
          <a:lstStyle/>
          <a:p>
            <a:pPr algn="l">
              <a:spcBef>
                <a:spcPts val="0"/>
              </a:spcBef>
              <a:spcAft>
                <a:spcPts val="0"/>
              </a:spcAft>
              <a:defRPr sz="1200" b="1">
                <a:solidFill>
                  <a:srgbClr val="457B9D"/>
                </a:solidFill>
                <a:latin typeface="Calibri"/>
              </a:defRPr>
            </a:pPr>
            <a:r>
              <a:t>Result</a:t>
            </a:r>
          </a:p>
        </p:txBody>
      </p:sp>
      <p:sp>
        <p:nvSpPr>
          <p:cNvPr id="67" name="TextBox 66"/>
          <p:cNvSpPr txBox="1"/>
          <p:nvPr/>
        </p:nvSpPr>
        <p:spPr>
          <a:xfrm>
            <a:off x="8778240" y="5440679"/>
            <a:ext cx="2651760" cy="320040"/>
          </a:xfrm>
          <a:prstGeom prst="rect">
            <a:avLst/>
          </a:prstGeom>
          <a:noFill/>
        </p:spPr>
        <p:txBody>
          <a:bodyPr wrap="square">
            <a:noAutofit/>
          </a:bodyPr>
          <a:lstStyle/>
          <a:p>
            <a:pPr algn="l">
              <a:spcBef>
                <a:spcPts val="0"/>
              </a:spcBef>
              <a:spcAft>
                <a:spcPts val="0"/>
              </a:spcAft>
              <a:defRPr sz="1200" b="0">
                <a:solidFill>
                  <a:srgbClr val="D0D0D0"/>
                </a:solidFill>
                <a:latin typeface="Calibri"/>
              </a:defRPr>
            </a:pPr>
            <a:r>
              <a:t>Load distributed</a:t>
            </a:r>
          </a:p>
        </p:txBody>
      </p:sp>
      <p:sp>
        <p:nvSpPr>
          <p:cNvPr id="68" name="TextBox 67"/>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From Telemetry to Autonomy: Full Stack</a:t>
            </a:r>
          </a:p>
        </p:txBody>
      </p:sp>
      <p:sp>
        <p:nvSpPr>
          <p:cNvPr id="5" name="Rounded Rectangle 4"/>
          <p:cNvSpPr/>
          <p:nvPr/>
        </p:nvSpPr>
        <p:spPr>
          <a:xfrm>
            <a:off x="1371600" y="1371600"/>
            <a:ext cx="6858000" cy="594360"/>
          </a:xfrm>
          <a:prstGeom prst="roundRect">
            <a:avLst/>
          </a:prstGeom>
          <a:solidFill>
            <a:srgbClr val="2A2A2F"/>
          </a:solidFill>
          <a:ln w="2540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Bef>
                <a:spcPts val="100"/>
              </a:spcBef>
              <a:spcAft>
                <a:spcPts val="200"/>
              </a:spcAft>
              <a:defRPr sz="1300" b="1">
                <a:solidFill>
                  <a:srgbClr val="457B9D"/>
                </a:solidFill>
                <a:latin typeface="Calibri"/>
              </a:defRPr>
            </a:pPr>
            <a:r>
              <a:t>DASHBOARD</a:t>
            </a:r>
          </a:p>
          <a:p>
            <a:pPr algn="l">
              <a:spcBef>
                <a:spcPts val="100"/>
              </a:spcBef>
              <a:spcAft>
                <a:spcPts val="200"/>
              </a:spcAft>
              <a:defRPr sz="1000" b="0">
                <a:solidFill>
                  <a:srgbClr val="A0A0A0"/>
                </a:solidFill>
                <a:latin typeface="Calibri"/>
              </a:defRPr>
            </a:pPr>
            <a:r>
              <a:t>Streamlit Real-time UI</a:t>
            </a:r>
          </a:p>
        </p:txBody>
      </p:sp>
      <p:cxnSp>
        <p:nvCxnSpPr>
          <p:cNvPr id="6" name="Connector 5"/>
          <p:cNvCxnSpPr/>
          <p:nvPr/>
        </p:nvCxnSpPr>
        <p:spPr>
          <a:xfrm>
            <a:off x="4800600" y="2011680"/>
            <a:ext cx="0" cy="45720"/>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371600" y="2103120"/>
            <a:ext cx="6858000" cy="594360"/>
          </a:xfrm>
          <a:prstGeom prst="roundRect">
            <a:avLst/>
          </a:prstGeom>
          <a:solidFill>
            <a:srgbClr val="2A2A2F"/>
          </a:solidFill>
          <a:ln w="2540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Bef>
                <a:spcPts val="100"/>
              </a:spcBef>
              <a:spcAft>
                <a:spcPts val="200"/>
              </a:spcAft>
              <a:defRPr sz="1300" b="1">
                <a:solidFill>
                  <a:srgbClr val="7209B7"/>
                </a:solidFill>
                <a:latin typeface="Calibri"/>
              </a:defRPr>
            </a:pPr>
            <a:r>
              <a:t>DECISION &amp; LEARNING LAYER</a:t>
            </a:r>
          </a:p>
          <a:p>
            <a:pPr algn="l">
              <a:spcBef>
                <a:spcPts val="100"/>
              </a:spcBef>
              <a:spcAft>
                <a:spcPts val="200"/>
              </a:spcAft>
              <a:defRPr sz="1000" b="0">
                <a:solidFill>
                  <a:srgbClr val="A0A0A0"/>
                </a:solidFill>
                <a:latin typeface="Calibri"/>
              </a:defRPr>
            </a:pPr>
            <a:r>
              <a:t>Strategy Selection + Outcome Tracking</a:t>
            </a:r>
          </a:p>
        </p:txBody>
      </p:sp>
      <p:cxnSp>
        <p:nvCxnSpPr>
          <p:cNvPr id="8" name="Connector 7"/>
          <p:cNvCxnSpPr/>
          <p:nvPr/>
        </p:nvCxnSpPr>
        <p:spPr>
          <a:xfrm>
            <a:off x="4800600" y="2743200"/>
            <a:ext cx="0" cy="45720"/>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371600" y="2834640"/>
            <a:ext cx="6858000" cy="594360"/>
          </a:xfrm>
          <a:prstGeom prst="roundRect">
            <a:avLst/>
          </a:prstGeom>
          <a:solidFill>
            <a:srgbClr val="2A2A2F"/>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Bef>
                <a:spcPts val="100"/>
              </a:spcBef>
              <a:spcAft>
                <a:spcPts val="200"/>
              </a:spcAft>
              <a:defRPr sz="1300" b="1">
                <a:solidFill>
                  <a:srgbClr val="06A77D"/>
                </a:solidFill>
                <a:latin typeface="Calibri"/>
              </a:defRPr>
            </a:pPr>
            <a:r>
              <a:t>AUTO-REMEDIATION</a:t>
            </a:r>
          </a:p>
          <a:p>
            <a:pPr algn="l">
              <a:spcBef>
                <a:spcPts val="100"/>
              </a:spcBef>
              <a:spcAft>
                <a:spcPts val="200"/>
              </a:spcAft>
              <a:defRPr sz="1000" b="0">
                <a:solidFill>
                  <a:srgbClr val="A0A0A0"/>
                </a:solidFill>
                <a:latin typeface="Calibri"/>
              </a:defRPr>
            </a:pPr>
            <a:r>
              <a:t>kubectl exec, scale, rollout</a:t>
            </a:r>
          </a:p>
        </p:txBody>
      </p:sp>
      <p:sp>
        <p:nvSpPr>
          <p:cNvPr id="10" name="Rounded Rectangle 9"/>
          <p:cNvSpPr/>
          <p:nvPr/>
        </p:nvSpPr>
        <p:spPr>
          <a:xfrm>
            <a:off x="1371600" y="3657600"/>
            <a:ext cx="1645920" cy="822960"/>
          </a:xfrm>
          <a:prstGeom prst="roundRect">
            <a:avLst/>
          </a:prstGeom>
          <a:solidFill>
            <a:srgbClr val="2A2A2F"/>
          </a:solidFill>
          <a:ln w="1905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E63946"/>
                </a:solidFill>
                <a:latin typeface="Calibri"/>
              </a:defRPr>
            </a:pPr>
            <a:r>
              <a:t>RCA Engine</a:t>
            </a:r>
          </a:p>
        </p:txBody>
      </p:sp>
      <p:sp>
        <p:nvSpPr>
          <p:cNvPr id="11" name="Rounded Rectangle 10"/>
          <p:cNvSpPr/>
          <p:nvPr/>
        </p:nvSpPr>
        <p:spPr>
          <a:xfrm>
            <a:off x="3154680" y="3657600"/>
            <a:ext cx="1645920" cy="822960"/>
          </a:xfrm>
          <a:prstGeom prst="roundRect">
            <a:avLst/>
          </a:prstGeom>
          <a:solidFill>
            <a:srgbClr val="2A2A2F"/>
          </a:solidFill>
          <a:ln w="1905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7209B7"/>
                </a:solidFill>
                <a:latin typeface="Calibri"/>
              </a:defRPr>
            </a:pPr>
            <a:r>
              <a:t>LLM</a:t>
            </a:r>
            <a:br/>
            <a:r>
              <a:t>Ollama</a:t>
            </a:r>
          </a:p>
        </p:txBody>
      </p:sp>
      <p:sp>
        <p:nvSpPr>
          <p:cNvPr id="12" name="Rounded Rectangle 11"/>
          <p:cNvSpPr/>
          <p:nvPr/>
        </p:nvSpPr>
        <p:spPr>
          <a:xfrm>
            <a:off x="4937760" y="3657600"/>
            <a:ext cx="1645920" cy="822960"/>
          </a:xfrm>
          <a:prstGeom prst="roundRect">
            <a:avLst/>
          </a:prstGeom>
          <a:solidFill>
            <a:srgbClr val="2A2A2F"/>
          </a:solidFill>
          <a:ln w="1905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F77F00"/>
                </a:solidFill>
                <a:latin typeface="Calibri"/>
              </a:defRPr>
            </a:pPr>
            <a:r>
              <a:t>Metrics</a:t>
            </a:r>
            <a:br/>
            <a:r>
              <a:t>Monitor</a:t>
            </a:r>
          </a:p>
        </p:txBody>
      </p:sp>
      <p:sp>
        <p:nvSpPr>
          <p:cNvPr id="13" name="Rounded Rectangle 12"/>
          <p:cNvSpPr/>
          <p:nvPr/>
        </p:nvSpPr>
        <p:spPr>
          <a:xfrm>
            <a:off x="6720840" y="3657600"/>
            <a:ext cx="1645920" cy="822960"/>
          </a:xfrm>
          <a:prstGeom prst="roundRect">
            <a:avLst/>
          </a:prstGeom>
          <a:solidFill>
            <a:srgbClr val="2A2A2F"/>
          </a:solidFill>
          <a:ln w="1905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100" b="1">
                <a:solidFill>
                  <a:srgbClr val="457B9D"/>
                </a:solidFill>
                <a:latin typeface="Calibri"/>
              </a:defRPr>
            </a:pPr>
            <a:r>
              <a:t>Dependency</a:t>
            </a:r>
            <a:br/>
            <a:r>
              <a:t>Graph</a:t>
            </a:r>
          </a:p>
        </p:txBody>
      </p:sp>
      <p:cxnSp>
        <p:nvCxnSpPr>
          <p:cNvPr id="14" name="Connector 13"/>
          <p:cNvCxnSpPr/>
          <p:nvPr/>
        </p:nvCxnSpPr>
        <p:spPr>
          <a:xfrm>
            <a:off x="4800600" y="3474720"/>
            <a:ext cx="0" cy="137160"/>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371600" y="4663440"/>
            <a:ext cx="6858000" cy="502920"/>
          </a:xfrm>
          <a:prstGeom prst="roundRect">
            <a:avLst/>
          </a:prstGeom>
          <a:solidFill>
            <a:srgbClr val="2A2A2F"/>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200" b="1">
                <a:solidFill>
                  <a:srgbClr val="F77F00"/>
                </a:solidFill>
                <a:latin typeface="Calibri"/>
              </a:defRPr>
            </a:pPr>
            <a:r>
              <a:t>LOG COLLECTION  ·  Structured Parsing  ·  Signal Extraction</a:t>
            </a:r>
          </a:p>
        </p:txBody>
      </p:sp>
      <p:cxnSp>
        <p:nvCxnSpPr>
          <p:cNvPr id="16" name="Connector 15"/>
          <p:cNvCxnSpPr/>
          <p:nvPr/>
        </p:nvCxnSpPr>
        <p:spPr>
          <a:xfrm>
            <a:off x="4800600" y="4526280"/>
            <a:ext cx="0" cy="91440"/>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71600" y="5349240"/>
            <a:ext cx="6858000" cy="594360"/>
          </a:xfrm>
          <a:prstGeom prst="roundRect">
            <a:avLst/>
          </a:prstGeom>
          <a:solidFill>
            <a:srgbClr val="17171B"/>
          </a:solidFill>
          <a:ln w="2540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Bef>
                <a:spcPts val="100"/>
              </a:spcBef>
              <a:spcAft>
                <a:spcPts val="200"/>
              </a:spcAft>
              <a:defRPr sz="1300" b="1">
                <a:solidFill>
                  <a:srgbClr val="457B9D"/>
                </a:solidFill>
                <a:latin typeface="Calibri"/>
              </a:defRPr>
            </a:pPr>
            <a:r>
              <a:t>KUBERNETES CLUSTER</a:t>
            </a:r>
          </a:p>
          <a:p>
            <a:pPr algn="l">
              <a:spcBef>
                <a:spcPts val="100"/>
              </a:spcBef>
              <a:spcAft>
                <a:spcPts val="200"/>
              </a:spcAft>
              <a:defRPr sz="1000" b="0">
                <a:solidFill>
                  <a:srgbClr val="A0A0A0"/>
                </a:solidFill>
                <a:latin typeface="Calibri"/>
              </a:defRPr>
            </a:pPr>
            <a:r>
              <a:t>12 Microservices  ·  Online Boutique Demo App</a:t>
            </a:r>
          </a:p>
        </p:txBody>
      </p:sp>
      <p:cxnSp>
        <p:nvCxnSpPr>
          <p:cNvPr id="18" name="Connector 17"/>
          <p:cNvCxnSpPr/>
          <p:nvPr/>
        </p:nvCxnSpPr>
        <p:spPr>
          <a:xfrm>
            <a:off x="4800600" y="5212080"/>
            <a:ext cx="0" cy="91440"/>
          </a:xfrm>
          <a:prstGeom prst="line">
            <a:avLst/>
          </a:prstGeom>
          <a:ln w="25400">
            <a:solidFill>
              <a:srgbClr val="3A3A4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686800" y="1371600"/>
            <a:ext cx="3017520" cy="4572000"/>
          </a:xfrm>
          <a:prstGeom prst="roundRect">
            <a:avLst/>
          </a:prstGeom>
          <a:solidFill>
            <a:srgbClr val="2A2A2F"/>
          </a:solidFill>
          <a:ln w="19050">
            <a:solidFill>
              <a:srgbClr val="3A3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0" y="1463040"/>
            <a:ext cx="2651760" cy="365760"/>
          </a:xfrm>
          <a:prstGeom prst="rect">
            <a:avLst/>
          </a:prstGeom>
          <a:noFill/>
        </p:spPr>
        <p:txBody>
          <a:bodyPr wrap="square">
            <a:noAutofit/>
          </a:bodyPr>
          <a:lstStyle/>
          <a:p>
            <a:pPr algn="l">
              <a:spcBef>
                <a:spcPts val="0"/>
              </a:spcBef>
              <a:spcAft>
                <a:spcPts val="0"/>
              </a:spcAft>
              <a:defRPr sz="1300" b="1">
                <a:solidFill>
                  <a:srgbClr val="FFFFFF"/>
                </a:solidFill>
                <a:latin typeface="Calibri"/>
              </a:defRPr>
            </a:pPr>
            <a:r>
              <a:t>TECH STACK</a:t>
            </a:r>
          </a:p>
        </p:txBody>
      </p:sp>
      <p:cxnSp>
        <p:nvCxnSpPr>
          <p:cNvPr id="21" name="Connector 20"/>
          <p:cNvCxnSpPr/>
          <p:nvPr/>
        </p:nvCxnSpPr>
        <p:spPr>
          <a:xfrm>
            <a:off x="8961120" y="1828800"/>
            <a:ext cx="2377440"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61120" y="2039112"/>
            <a:ext cx="182880" cy="182880"/>
          </a:xfrm>
          <a:prstGeom prst="round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947672"/>
            <a:ext cx="1280160" cy="274320"/>
          </a:xfrm>
          <a:prstGeom prst="rect">
            <a:avLst/>
          </a:prstGeom>
          <a:noFill/>
        </p:spPr>
        <p:txBody>
          <a:bodyPr wrap="square">
            <a:noAutofit/>
          </a:bodyPr>
          <a:lstStyle/>
          <a:p>
            <a:pPr algn="l">
              <a:spcBef>
                <a:spcPts val="0"/>
              </a:spcBef>
              <a:spcAft>
                <a:spcPts val="0"/>
              </a:spcAft>
              <a:defRPr sz="1200" b="1">
                <a:solidFill>
                  <a:srgbClr val="FFFFFF"/>
                </a:solidFill>
                <a:latin typeface="Calibri"/>
              </a:defRPr>
            </a:pPr>
            <a:r>
              <a:t>FastAPI</a:t>
            </a:r>
          </a:p>
        </p:txBody>
      </p:sp>
      <p:sp>
        <p:nvSpPr>
          <p:cNvPr id="24" name="TextBox 23"/>
          <p:cNvSpPr txBox="1"/>
          <p:nvPr/>
        </p:nvSpPr>
        <p:spPr>
          <a:xfrm>
            <a:off x="9235440" y="2194560"/>
            <a:ext cx="2194560" cy="274320"/>
          </a:xfrm>
          <a:prstGeom prst="rect">
            <a:avLst/>
          </a:prstGeom>
          <a:noFill/>
        </p:spPr>
        <p:txBody>
          <a:bodyPr wrap="square">
            <a:noAutofit/>
          </a:bodyPr>
          <a:lstStyle/>
          <a:p>
            <a:pPr algn="l">
              <a:spcBef>
                <a:spcPts val="0"/>
              </a:spcBef>
              <a:spcAft>
                <a:spcPts val="0"/>
              </a:spcAft>
              <a:defRPr sz="1000" b="0">
                <a:solidFill>
                  <a:srgbClr val="A0A0A0"/>
                </a:solidFill>
                <a:latin typeface="Calibri"/>
              </a:defRPr>
            </a:pPr>
            <a:r>
              <a:t>REST API Layer</a:t>
            </a:r>
          </a:p>
        </p:txBody>
      </p:sp>
      <p:sp>
        <p:nvSpPr>
          <p:cNvPr id="25" name="Rounded Rectangle 24"/>
          <p:cNvSpPr/>
          <p:nvPr/>
        </p:nvSpPr>
        <p:spPr>
          <a:xfrm>
            <a:off x="8961120" y="2587752"/>
            <a:ext cx="182880" cy="182880"/>
          </a:xfrm>
          <a:prstGeom prst="roundRect">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496312"/>
            <a:ext cx="1280160" cy="274320"/>
          </a:xfrm>
          <a:prstGeom prst="rect">
            <a:avLst/>
          </a:prstGeom>
          <a:noFill/>
        </p:spPr>
        <p:txBody>
          <a:bodyPr wrap="square">
            <a:noAutofit/>
          </a:bodyPr>
          <a:lstStyle/>
          <a:p>
            <a:pPr algn="l">
              <a:spcBef>
                <a:spcPts val="0"/>
              </a:spcBef>
              <a:spcAft>
                <a:spcPts val="0"/>
              </a:spcAft>
              <a:defRPr sz="1200" b="1">
                <a:solidFill>
                  <a:srgbClr val="FFFFFF"/>
                </a:solidFill>
                <a:latin typeface="Calibri"/>
              </a:defRPr>
            </a:pPr>
            <a:r>
              <a:t>PostgreSQL</a:t>
            </a:r>
          </a:p>
        </p:txBody>
      </p:sp>
      <p:sp>
        <p:nvSpPr>
          <p:cNvPr id="27" name="TextBox 26"/>
          <p:cNvSpPr txBox="1"/>
          <p:nvPr/>
        </p:nvSpPr>
        <p:spPr>
          <a:xfrm>
            <a:off x="9235440" y="2743200"/>
            <a:ext cx="2194560" cy="274320"/>
          </a:xfrm>
          <a:prstGeom prst="rect">
            <a:avLst/>
          </a:prstGeom>
          <a:noFill/>
        </p:spPr>
        <p:txBody>
          <a:bodyPr wrap="square">
            <a:noAutofit/>
          </a:bodyPr>
          <a:lstStyle/>
          <a:p>
            <a:pPr algn="l">
              <a:spcBef>
                <a:spcPts val="0"/>
              </a:spcBef>
              <a:spcAft>
                <a:spcPts val="0"/>
              </a:spcAft>
              <a:defRPr sz="1000" b="0">
                <a:solidFill>
                  <a:srgbClr val="A0A0A0"/>
                </a:solidFill>
                <a:latin typeface="Calibri"/>
              </a:defRPr>
            </a:pPr>
            <a:r>
              <a:t>Incident Database</a:t>
            </a:r>
          </a:p>
        </p:txBody>
      </p:sp>
      <p:sp>
        <p:nvSpPr>
          <p:cNvPr id="28" name="Rounded Rectangle 27"/>
          <p:cNvSpPr/>
          <p:nvPr/>
        </p:nvSpPr>
        <p:spPr>
          <a:xfrm>
            <a:off x="8961120" y="3136391"/>
            <a:ext cx="182880" cy="182880"/>
          </a:xfrm>
          <a:prstGeom prst="roundRect">
            <a:avLst/>
          </a:prstGeom>
          <a:solidFill>
            <a:srgbClr val="7209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0" y="3044951"/>
            <a:ext cx="1280160" cy="274320"/>
          </a:xfrm>
          <a:prstGeom prst="rect">
            <a:avLst/>
          </a:prstGeom>
          <a:noFill/>
        </p:spPr>
        <p:txBody>
          <a:bodyPr wrap="square">
            <a:noAutofit/>
          </a:bodyPr>
          <a:lstStyle/>
          <a:p>
            <a:pPr algn="l">
              <a:spcBef>
                <a:spcPts val="0"/>
              </a:spcBef>
              <a:spcAft>
                <a:spcPts val="0"/>
              </a:spcAft>
              <a:defRPr sz="1200" b="1">
                <a:solidFill>
                  <a:srgbClr val="FFFFFF"/>
                </a:solidFill>
                <a:latin typeface="Calibri"/>
              </a:defRPr>
            </a:pPr>
            <a:r>
              <a:t>Ollama</a:t>
            </a:r>
          </a:p>
        </p:txBody>
      </p:sp>
      <p:sp>
        <p:nvSpPr>
          <p:cNvPr id="30" name="TextBox 29"/>
          <p:cNvSpPr txBox="1"/>
          <p:nvPr/>
        </p:nvSpPr>
        <p:spPr>
          <a:xfrm>
            <a:off x="9235440" y="3291839"/>
            <a:ext cx="2194560" cy="274320"/>
          </a:xfrm>
          <a:prstGeom prst="rect">
            <a:avLst/>
          </a:prstGeom>
          <a:noFill/>
        </p:spPr>
        <p:txBody>
          <a:bodyPr wrap="square">
            <a:noAutofit/>
          </a:bodyPr>
          <a:lstStyle/>
          <a:p>
            <a:pPr algn="l">
              <a:spcBef>
                <a:spcPts val="0"/>
              </a:spcBef>
              <a:spcAft>
                <a:spcPts val="0"/>
              </a:spcAft>
              <a:defRPr sz="1000" b="0">
                <a:solidFill>
                  <a:srgbClr val="A0A0A0"/>
                </a:solidFill>
                <a:latin typeface="Calibri"/>
              </a:defRPr>
            </a:pPr>
            <a:r>
              <a:t>qwen2.5:3b LLM</a:t>
            </a:r>
          </a:p>
        </p:txBody>
      </p:sp>
      <p:sp>
        <p:nvSpPr>
          <p:cNvPr id="31" name="Rounded Rectangle 30"/>
          <p:cNvSpPr/>
          <p:nvPr/>
        </p:nvSpPr>
        <p:spPr>
          <a:xfrm>
            <a:off x="8961120" y="3685031"/>
            <a:ext cx="182880" cy="182880"/>
          </a:xfrm>
          <a:prstGeom prst="round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5440" y="3593591"/>
            <a:ext cx="1280160" cy="274320"/>
          </a:xfrm>
          <a:prstGeom prst="rect">
            <a:avLst/>
          </a:prstGeom>
          <a:noFill/>
        </p:spPr>
        <p:txBody>
          <a:bodyPr wrap="square">
            <a:noAutofit/>
          </a:bodyPr>
          <a:lstStyle/>
          <a:p>
            <a:pPr algn="l">
              <a:spcBef>
                <a:spcPts val="0"/>
              </a:spcBef>
              <a:spcAft>
                <a:spcPts val="0"/>
              </a:spcAft>
              <a:defRPr sz="1200" b="1">
                <a:solidFill>
                  <a:srgbClr val="FFFFFF"/>
                </a:solidFill>
                <a:latin typeface="Calibri"/>
              </a:defRPr>
            </a:pPr>
            <a:r>
              <a:t>Scikit-learn</a:t>
            </a:r>
          </a:p>
        </p:txBody>
      </p:sp>
      <p:sp>
        <p:nvSpPr>
          <p:cNvPr id="33" name="TextBox 32"/>
          <p:cNvSpPr txBox="1"/>
          <p:nvPr/>
        </p:nvSpPr>
        <p:spPr>
          <a:xfrm>
            <a:off x="9235440" y="3840479"/>
            <a:ext cx="2194560" cy="274320"/>
          </a:xfrm>
          <a:prstGeom prst="rect">
            <a:avLst/>
          </a:prstGeom>
          <a:noFill/>
        </p:spPr>
        <p:txBody>
          <a:bodyPr wrap="square">
            <a:noAutofit/>
          </a:bodyPr>
          <a:lstStyle/>
          <a:p>
            <a:pPr algn="l">
              <a:spcBef>
                <a:spcPts val="0"/>
              </a:spcBef>
              <a:spcAft>
                <a:spcPts val="0"/>
              </a:spcAft>
              <a:defRPr sz="1000" b="0">
                <a:solidFill>
                  <a:srgbClr val="A0A0A0"/>
                </a:solidFill>
                <a:latin typeface="Calibri"/>
              </a:defRPr>
            </a:pPr>
            <a:r>
              <a:t>ML Strategy Select</a:t>
            </a:r>
          </a:p>
        </p:txBody>
      </p:sp>
      <p:sp>
        <p:nvSpPr>
          <p:cNvPr id="34" name="Rounded Rectangle 33"/>
          <p:cNvSpPr/>
          <p:nvPr/>
        </p:nvSpPr>
        <p:spPr>
          <a:xfrm>
            <a:off x="8961120" y="4233672"/>
            <a:ext cx="182880" cy="182880"/>
          </a:xfrm>
          <a:prstGeom prst="round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35440" y="4142232"/>
            <a:ext cx="1280160" cy="274320"/>
          </a:xfrm>
          <a:prstGeom prst="rect">
            <a:avLst/>
          </a:prstGeom>
          <a:noFill/>
        </p:spPr>
        <p:txBody>
          <a:bodyPr wrap="square">
            <a:noAutofit/>
          </a:bodyPr>
          <a:lstStyle/>
          <a:p>
            <a:pPr algn="l">
              <a:spcBef>
                <a:spcPts val="0"/>
              </a:spcBef>
              <a:spcAft>
                <a:spcPts val="0"/>
              </a:spcAft>
              <a:defRPr sz="1200" b="1">
                <a:solidFill>
                  <a:srgbClr val="FFFFFF"/>
                </a:solidFill>
                <a:latin typeface="Calibri"/>
              </a:defRPr>
            </a:pPr>
            <a:r>
              <a:t>kubectl</a:t>
            </a:r>
          </a:p>
        </p:txBody>
      </p:sp>
      <p:sp>
        <p:nvSpPr>
          <p:cNvPr id="36" name="TextBox 35"/>
          <p:cNvSpPr txBox="1"/>
          <p:nvPr/>
        </p:nvSpPr>
        <p:spPr>
          <a:xfrm>
            <a:off x="9235440" y="4389120"/>
            <a:ext cx="2194560" cy="274320"/>
          </a:xfrm>
          <a:prstGeom prst="rect">
            <a:avLst/>
          </a:prstGeom>
          <a:noFill/>
        </p:spPr>
        <p:txBody>
          <a:bodyPr wrap="square">
            <a:noAutofit/>
          </a:bodyPr>
          <a:lstStyle/>
          <a:p>
            <a:pPr algn="l">
              <a:spcBef>
                <a:spcPts val="0"/>
              </a:spcBef>
              <a:spcAft>
                <a:spcPts val="0"/>
              </a:spcAft>
              <a:defRPr sz="1000" b="0">
                <a:solidFill>
                  <a:srgbClr val="A0A0A0"/>
                </a:solidFill>
                <a:latin typeface="Calibri"/>
              </a:defRPr>
            </a:pPr>
            <a:r>
              <a:t>K8s API Interface</a:t>
            </a:r>
          </a:p>
        </p:txBody>
      </p:sp>
      <p:sp>
        <p:nvSpPr>
          <p:cNvPr id="37" name="Rounded Rectangle 36"/>
          <p:cNvSpPr/>
          <p:nvPr/>
        </p:nvSpPr>
        <p:spPr>
          <a:xfrm>
            <a:off x="8961120" y="4782312"/>
            <a:ext cx="182880" cy="18288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35440" y="4690872"/>
            <a:ext cx="1280160" cy="274320"/>
          </a:xfrm>
          <a:prstGeom prst="rect">
            <a:avLst/>
          </a:prstGeom>
          <a:noFill/>
        </p:spPr>
        <p:txBody>
          <a:bodyPr wrap="square">
            <a:noAutofit/>
          </a:bodyPr>
          <a:lstStyle/>
          <a:p>
            <a:pPr algn="l">
              <a:spcBef>
                <a:spcPts val="0"/>
              </a:spcBef>
              <a:spcAft>
                <a:spcPts val="0"/>
              </a:spcAft>
              <a:defRPr sz="1200" b="1">
                <a:solidFill>
                  <a:srgbClr val="FFFFFF"/>
                </a:solidFill>
                <a:latin typeface="Calibri"/>
              </a:defRPr>
            </a:pPr>
            <a:r>
              <a:t>Streamlit</a:t>
            </a:r>
          </a:p>
        </p:txBody>
      </p:sp>
      <p:sp>
        <p:nvSpPr>
          <p:cNvPr id="39" name="TextBox 38"/>
          <p:cNvSpPr txBox="1"/>
          <p:nvPr/>
        </p:nvSpPr>
        <p:spPr>
          <a:xfrm>
            <a:off x="9235440" y="4937760"/>
            <a:ext cx="2194560" cy="274320"/>
          </a:xfrm>
          <a:prstGeom prst="rect">
            <a:avLst/>
          </a:prstGeom>
          <a:noFill/>
        </p:spPr>
        <p:txBody>
          <a:bodyPr wrap="square">
            <a:noAutofit/>
          </a:bodyPr>
          <a:lstStyle/>
          <a:p>
            <a:pPr algn="l">
              <a:spcBef>
                <a:spcPts val="0"/>
              </a:spcBef>
              <a:spcAft>
                <a:spcPts val="0"/>
              </a:spcAft>
              <a:defRPr sz="1000" b="0">
                <a:solidFill>
                  <a:srgbClr val="A0A0A0"/>
                </a:solidFill>
                <a:latin typeface="Calibri"/>
              </a:defRPr>
            </a:pPr>
            <a:r>
              <a:t>Dashboard UI</a:t>
            </a:r>
          </a:p>
        </p:txBody>
      </p:sp>
      <p:sp>
        <p:nvSpPr>
          <p:cNvPr id="40" name="Rounded Rectangle 39"/>
          <p:cNvSpPr/>
          <p:nvPr/>
        </p:nvSpPr>
        <p:spPr>
          <a:xfrm>
            <a:off x="8961120" y="5330952"/>
            <a:ext cx="182880" cy="182880"/>
          </a:xfrm>
          <a:prstGeom prst="roundRect">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5440" y="5239512"/>
            <a:ext cx="1280160" cy="274320"/>
          </a:xfrm>
          <a:prstGeom prst="rect">
            <a:avLst/>
          </a:prstGeom>
          <a:noFill/>
        </p:spPr>
        <p:txBody>
          <a:bodyPr wrap="square">
            <a:noAutofit/>
          </a:bodyPr>
          <a:lstStyle/>
          <a:p>
            <a:pPr algn="l">
              <a:spcBef>
                <a:spcPts val="0"/>
              </a:spcBef>
              <a:spcAft>
                <a:spcPts val="0"/>
              </a:spcAft>
              <a:defRPr sz="1200" b="1">
                <a:solidFill>
                  <a:srgbClr val="FFFFFF"/>
                </a:solidFill>
                <a:latin typeface="Calibri"/>
              </a:defRPr>
            </a:pPr>
            <a:r>
              <a:t>Docker</a:t>
            </a:r>
          </a:p>
        </p:txBody>
      </p:sp>
      <p:sp>
        <p:nvSpPr>
          <p:cNvPr id="42" name="TextBox 41"/>
          <p:cNvSpPr txBox="1"/>
          <p:nvPr/>
        </p:nvSpPr>
        <p:spPr>
          <a:xfrm>
            <a:off x="9235440" y="5486400"/>
            <a:ext cx="2194560" cy="274320"/>
          </a:xfrm>
          <a:prstGeom prst="rect">
            <a:avLst/>
          </a:prstGeom>
          <a:noFill/>
        </p:spPr>
        <p:txBody>
          <a:bodyPr wrap="square">
            <a:noAutofit/>
          </a:bodyPr>
          <a:lstStyle/>
          <a:p>
            <a:pPr algn="l">
              <a:spcBef>
                <a:spcPts val="0"/>
              </a:spcBef>
              <a:spcAft>
                <a:spcPts val="0"/>
              </a:spcAft>
              <a:defRPr sz="1000" b="0">
                <a:solidFill>
                  <a:srgbClr val="A0A0A0"/>
                </a:solidFill>
                <a:latin typeface="Calibri"/>
              </a:defRPr>
            </a:pPr>
            <a:r>
              <a:t>Containerization</a:t>
            </a:r>
          </a:p>
        </p:txBody>
      </p:sp>
      <p:sp>
        <p:nvSpPr>
          <p:cNvPr id="43" name="TextBox 42"/>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7209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What Makes This Different</a:t>
            </a:r>
          </a:p>
        </p:txBody>
      </p:sp>
      <p:sp>
        <p:nvSpPr>
          <p:cNvPr id="5" name="Rounded Rectangle 4"/>
          <p:cNvSpPr/>
          <p:nvPr/>
        </p:nvSpPr>
        <p:spPr>
          <a:xfrm>
            <a:off x="548640" y="1371600"/>
            <a:ext cx="2651760" cy="3200400"/>
          </a:xfrm>
          <a:prstGeom prst="roundRect">
            <a:avLst/>
          </a:prstGeom>
          <a:solidFill>
            <a:srgbClr val="2A2A2F"/>
          </a:solidFill>
          <a:ln w="2540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08760" y="1143000"/>
            <a:ext cx="731520" cy="731520"/>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2000" b="1">
                <a:solidFill>
                  <a:srgbClr val="FFFFFF"/>
                </a:solidFill>
                <a:latin typeface="Calibri"/>
              </a:defRPr>
            </a:pPr>
            <a:r>
              <a:t>🔗</a:t>
            </a:r>
          </a:p>
        </p:txBody>
      </p:sp>
      <p:sp>
        <p:nvSpPr>
          <p:cNvPr id="7" name="TextBox 6"/>
          <p:cNvSpPr txBox="1"/>
          <p:nvPr/>
        </p:nvSpPr>
        <p:spPr>
          <a:xfrm>
            <a:off x="685800" y="2011680"/>
            <a:ext cx="2377440" cy="640080"/>
          </a:xfrm>
          <a:prstGeom prst="rect">
            <a:avLst/>
          </a:prstGeom>
          <a:noFill/>
        </p:spPr>
        <p:txBody>
          <a:bodyPr wrap="square">
            <a:noAutofit/>
          </a:bodyPr>
          <a:lstStyle/>
          <a:p>
            <a:pPr algn="ctr">
              <a:spcBef>
                <a:spcPts val="0"/>
              </a:spcBef>
              <a:spcAft>
                <a:spcPts val="0"/>
              </a:spcAft>
              <a:defRPr sz="1700" b="1">
                <a:solidFill>
                  <a:srgbClr val="457B9D"/>
                </a:solidFill>
                <a:latin typeface="Calibri"/>
              </a:defRPr>
            </a:pPr>
            <a:r>
              <a:t>Dependency</a:t>
            </a:r>
            <a:br/>
            <a:r>
              <a:t>Aware</a:t>
            </a:r>
          </a:p>
        </p:txBody>
      </p:sp>
      <p:cxnSp>
        <p:nvCxnSpPr>
          <p:cNvPr id="8" name="Connector 7"/>
          <p:cNvCxnSpPr/>
          <p:nvPr/>
        </p:nvCxnSpPr>
        <p:spPr>
          <a:xfrm>
            <a:off x="914400" y="2743200"/>
            <a:ext cx="1920240"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2834640"/>
            <a:ext cx="2286000" cy="1097280"/>
          </a:xfrm>
          <a:prstGeom prst="rect">
            <a:avLst/>
          </a:prstGeom>
          <a:noFill/>
        </p:spPr>
        <p:txBody>
          <a:bodyPr wrap="square">
            <a:noAutofit/>
          </a:bodyPr>
          <a:lstStyle/>
          <a:p>
            <a:pPr algn="ctr">
              <a:spcBef>
                <a:spcPts val="0"/>
              </a:spcBef>
              <a:spcAft>
                <a:spcPts val="0"/>
              </a:spcAft>
              <a:defRPr sz="1300" b="0">
                <a:solidFill>
                  <a:srgbClr val="D0D0D0"/>
                </a:solidFill>
                <a:latin typeface="Calibri"/>
              </a:defRPr>
            </a:pPr>
            <a:r>
              <a:t>Traces topology</a:t>
            </a:r>
            <a:br/>
            <a:r>
              <a:t>graph, not just</a:t>
            </a:r>
            <a:br/>
            <a:r>
              <a:t>isolated alerts</a:t>
            </a:r>
          </a:p>
        </p:txBody>
      </p:sp>
      <p:sp>
        <p:nvSpPr>
          <p:cNvPr id="10" name="Rounded Rectangle 9"/>
          <p:cNvSpPr/>
          <p:nvPr/>
        </p:nvSpPr>
        <p:spPr>
          <a:xfrm>
            <a:off x="3429000" y="1371600"/>
            <a:ext cx="2651760" cy="3200400"/>
          </a:xfrm>
          <a:prstGeom prst="roundRect">
            <a:avLst/>
          </a:prstGeom>
          <a:solidFill>
            <a:srgbClr val="2A2A2F"/>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389120" y="1143000"/>
            <a:ext cx="731520" cy="731520"/>
          </a:xfrm>
          <a:prstGeom prst="ellipse">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2000" b="1">
                <a:solidFill>
                  <a:srgbClr val="FFFFFF"/>
                </a:solidFill>
                <a:latin typeface="Calibri"/>
              </a:defRPr>
            </a:pPr>
            <a:r>
              <a:t>🧠</a:t>
            </a:r>
          </a:p>
        </p:txBody>
      </p:sp>
      <p:sp>
        <p:nvSpPr>
          <p:cNvPr id="12" name="TextBox 11"/>
          <p:cNvSpPr txBox="1"/>
          <p:nvPr/>
        </p:nvSpPr>
        <p:spPr>
          <a:xfrm>
            <a:off x="3566160" y="2011680"/>
            <a:ext cx="2377440" cy="640080"/>
          </a:xfrm>
          <a:prstGeom prst="rect">
            <a:avLst/>
          </a:prstGeom>
          <a:noFill/>
        </p:spPr>
        <p:txBody>
          <a:bodyPr wrap="square">
            <a:noAutofit/>
          </a:bodyPr>
          <a:lstStyle/>
          <a:p>
            <a:pPr algn="ctr">
              <a:spcBef>
                <a:spcPts val="0"/>
              </a:spcBef>
              <a:spcAft>
                <a:spcPts val="0"/>
              </a:spcAft>
              <a:defRPr sz="1700" b="1">
                <a:solidFill>
                  <a:srgbClr val="06A77D"/>
                </a:solidFill>
                <a:latin typeface="Calibri"/>
              </a:defRPr>
            </a:pPr>
            <a:r>
              <a:t>Adaptive</a:t>
            </a:r>
            <a:br/>
            <a:r>
              <a:t>Learning</a:t>
            </a:r>
          </a:p>
        </p:txBody>
      </p:sp>
      <p:cxnSp>
        <p:nvCxnSpPr>
          <p:cNvPr id="13" name="Connector 12"/>
          <p:cNvCxnSpPr/>
          <p:nvPr/>
        </p:nvCxnSpPr>
        <p:spPr>
          <a:xfrm>
            <a:off x="3794760" y="2743200"/>
            <a:ext cx="1920240"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11880" y="2834640"/>
            <a:ext cx="2286000" cy="1097280"/>
          </a:xfrm>
          <a:prstGeom prst="rect">
            <a:avLst/>
          </a:prstGeom>
          <a:noFill/>
        </p:spPr>
        <p:txBody>
          <a:bodyPr wrap="square">
            <a:noAutofit/>
          </a:bodyPr>
          <a:lstStyle/>
          <a:p>
            <a:pPr algn="ctr">
              <a:spcBef>
                <a:spcPts val="0"/>
              </a:spcBef>
              <a:spcAft>
                <a:spcPts val="0"/>
              </a:spcAft>
              <a:defRPr sz="1300" b="0">
                <a:solidFill>
                  <a:srgbClr val="D0D0D0"/>
                </a:solidFill>
                <a:latin typeface="Calibri"/>
              </a:defRPr>
            </a:pPr>
            <a:r>
              <a:t>Improves over</a:t>
            </a:r>
            <a:br/>
            <a:r>
              <a:t>time from real</a:t>
            </a:r>
            <a:br/>
            <a:r>
              <a:t>outcome data</a:t>
            </a:r>
          </a:p>
        </p:txBody>
      </p:sp>
      <p:sp>
        <p:nvSpPr>
          <p:cNvPr id="15" name="Rounded Rectangle 14"/>
          <p:cNvSpPr/>
          <p:nvPr/>
        </p:nvSpPr>
        <p:spPr>
          <a:xfrm>
            <a:off x="6309359" y="1371600"/>
            <a:ext cx="2651760" cy="3200400"/>
          </a:xfrm>
          <a:prstGeom prst="roundRect">
            <a:avLst/>
          </a:prstGeom>
          <a:solidFill>
            <a:srgbClr val="2A2A2F"/>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69479" y="1143000"/>
            <a:ext cx="731520" cy="731520"/>
          </a:xfrm>
          <a:prstGeom prst="ellipse">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2000" b="1">
                <a:solidFill>
                  <a:srgbClr val="FFFFFF"/>
                </a:solidFill>
                <a:latin typeface="Calibri"/>
              </a:defRPr>
            </a:pPr>
            <a:r>
              <a:t>🎯</a:t>
            </a:r>
          </a:p>
        </p:txBody>
      </p:sp>
      <p:sp>
        <p:nvSpPr>
          <p:cNvPr id="17" name="TextBox 16"/>
          <p:cNvSpPr txBox="1"/>
          <p:nvPr/>
        </p:nvSpPr>
        <p:spPr>
          <a:xfrm>
            <a:off x="6446520" y="2011680"/>
            <a:ext cx="2377440" cy="640080"/>
          </a:xfrm>
          <a:prstGeom prst="rect">
            <a:avLst/>
          </a:prstGeom>
          <a:noFill/>
        </p:spPr>
        <p:txBody>
          <a:bodyPr wrap="square">
            <a:noAutofit/>
          </a:bodyPr>
          <a:lstStyle/>
          <a:p>
            <a:pPr algn="ctr">
              <a:spcBef>
                <a:spcPts val="0"/>
              </a:spcBef>
              <a:spcAft>
                <a:spcPts val="0"/>
              </a:spcAft>
              <a:defRPr sz="1700" b="1">
                <a:solidFill>
                  <a:srgbClr val="F77F00"/>
                </a:solidFill>
                <a:latin typeface="Calibri"/>
              </a:defRPr>
            </a:pPr>
            <a:r>
              <a:t>Confidence</a:t>
            </a:r>
            <a:br/>
            <a:r>
              <a:t>Gated</a:t>
            </a:r>
          </a:p>
        </p:txBody>
      </p:sp>
      <p:cxnSp>
        <p:nvCxnSpPr>
          <p:cNvPr id="18" name="Connector 17"/>
          <p:cNvCxnSpPr/>
          <p:nvPr/>
        </p:nvCxnSpPr>
        <p:spPr>
          <a:xfrm>
            <a:off x="6675120" y="2743200"/>
            <a:ext cx="1920239"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92240" y="2834640"/>
            <a:ext cx="2286000" cy="1097280"/>
          </a:xfrm>
          <a:prstGeom prst="rect">
            <a:avLst/>
          </a:prstGeom>
          <a:noFill/>
        </p:spPr>
        <p:txBody>
          <a:bodyPr wrap="square">
            <a:noAutofit/>
          </a:bodyPr>
          <a:lstStyle/>
          <a:p>
            <a:pPr algn="ctr">
              <a:spcBef>
                <a:spcPts val="0"/>
              </a:spcBef>
              <a:spcAft>
                <a:spcPts val="0"/>
              </a:spcAft>
              <a:defRPr sz="1300" b="0">
                <a:solidFill>
                  <a:srgbClr val="D0D0D0"/>
                </a:solidFill>
                <a:latin typeface="Calibri"/>
              </a:defRPr>
            </a:pPr>
            <a:r>
              <a:t>4% false positive</a:t>
            </a:r>
            <a:br/>
            <a:r>
              <a:t>rate via certainty</a:t>
            </a:r>
            <a:br/>
            <a:r>
              <a:t>scoring</a:t>
            </a:r>
          </a:p>
        </p:txBody>
      </p:sp>
      <p:sp>
        <p:nvSpPr>
          <p:cNvPr id="20" name="Rounded Rectangle 19"/>
          <p:cNvSpPr/>
          <p:nvPr/>
        </p:nvSpPr>
        <p:spPr>
          <a:xfrm>
            <a:off x="9189719" y="1371600"/>
            <a:ext cx="2651760" cy="3200400"/>
          </a:xfrm>
          <a:prstGeom prst="roundRect">
            <a:avLst/>
          </a:prstGeom>
          <a:solidFill>
            <a:srgbClr val="2A2A2F"/>
          </a:solidFill>
          <a:ln w="2540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49840" y="1143000"/>
            <a:ext cx="731520" cy="731520"/>
          </a:xfrm>
          <a:prstGeom prst="ellipse">
            <a:avLst/>
          </a:prstGeom>
          <a:solidFill>
            <a:srgbClr val="7209B7"/>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2000" b="1">
                <a:solidFill>
                  <a:srgbClr val="FFFFFF"/>
                </a:solidFill>
                <a:latin typeface="Calibri"/>
              </a:defRPr>
            </a:pPr>
            <a:r>
              <a:t>⚡</a:t>
            </a:r>
          </a:p>
        </p:txBody>
      </p:sp>
      <p:sp>
        <p:nvSpPr>
          <p:cNvPr id="22" name="TextBox 21"/>
          <p:cNvSpPr txBox="1"/>
          <p:nvPr/>
        </p:nvSpPr>
        <p:spPr>
          <a:xfrm>
            <a:off x="9326880" y="2011680"/>
            <a:ext cx="2377440" cy="640080"/>
          </a:xfrm>
          <a:prstGeom prst="rect">
            <a:avLst/>
          </a:prstGeom>
          <a:noFill/>
        </p:spPr>
        <p:txBody>
          <a:bodyPr wrap="square">
            <a:noAutofit/>
          </a:bodyPr>
          <a:lstStyle/>
          <a:p>
            <a:pPr algn="ctr">
              <a:spcBef>
                <a:spcPts val="0"/>
              </a:spcBef>
              <a:spcAft>
                <a:spcPts val="0"/>
              </a:spcAft>
              <a:defRPr sz="1700" b="1">
                <a:solidFill>
                  <a:srgbClr val="7209B7"/>
                </a:solidFill>
                <a:latin typeface="Calibri"/>
              </a:defRPr>
            </a:pPr>
            <a:r>
              <a:t>Fully</a:t>
            </a:r>
            <a:br/>
            <a:r>
              <a:t>Autonomous</a:t>
            </a:r>
          </a:p>
        </p:txBody>
      </p:sp>
      <p:cxnSp>
        <p:nvCxnSpPr>
          <p:cNvPr id="23" name="Connector 22"/>
          <p:cNvCxnSpPr/>
          <p:nvPr/>
        </p:nvCxnSpPr>
        <p:spPr>
          <a:xfrm>
            <a:off x="9555480" y="2743200"/>
            <a:ext cx="1920239"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372599" y="2834640"/>
            <a:ext cx="2286000" cy="1097280"/>
          </a:xfrm>
          <a:prstGeom prst="rect">
            <a:avLst/>
          </a:prstGeom>
          <a:noFill/>
        </p:spPr>
        <p:txBody>
          <a:bodyPr wrap="square">
            <a:noAutofit/>
          </a:bodyPr>
          <a:lstStyle/>
          <a:p>
            <a:pPr algn="ctr">
              <a:spcBef>
                <a:spcPts val="0"/>
              </a:spcBef>
              <a:spcAft>
                <a:spcPts val="0"/>
              </a:spcAft>
              <a:defRPr sz="1300" b="0">
                <a:solidFill>
                  <a:srgbClr val="D0D0D0"/>
                </a:solidFill>
                <a:latin typeface="Calibri"/>
              </a:defRPr>
            </a:pPr>
            <a:r>
              <a:t>100% resolution</a:t>
            </a:r>
            <a:br/>
            <a:r>
              <a:t>rate with zero</a:t>
            </a:r>
            <a:br/>
            <a:r>
              <a:t>human intervention</a:t>
            </a:r>
          </a:p>
        </p:txBody>
      </p:sp>
      <p:sp>
        <p:nvSpPr>
          <p:cNvPr id="25" name="TextBox 24"/>
          <p:cNvSpPr txBox="1"/>
          <p:nvPr/>
        </p:nvSpPr>
        <p:spPr>
          <a:xfrm>
            <a:off x="548640" y="4846320"/>
            <a:ext cx="10972800" cy="365760"/>
          </a:xfrm>
          <a:prstGeom prst="rect">
            <a:avLst/>
          </a:prstGeom>
          <a:noFill/>
        </p:spPr>
        <p:txBody>
          <a:bodyPr wrap="square">
            <a:noAutofit/>
          </a:bodyPr>
          <a:lstStyle/>
          <a:p>
            <a:pPr algn="l">
              <a:spcBef>
                <a:spcPts val="0"/>
              </a:spcBef>
              <a:spcAft>
                <a:spcPts val="0"/>
              </a:spcAft>
              <a:defRPr sz="1300" b="1">
                <a:solidFill>
                  <a:srgbClr val="A0A0A0"/>
                </a:solidFill>
                <a:latin typeface="Calibri"/>
              </a:defRPr>
            </a:pPr>
            <a:r>
              <a:t>COMPETITIVE COMPARISON</a:t>
            </a:r>
          </a:p>
        </p:txBody>
      </p:sp>
      <p:sp>
        <p:nvSpPr>
          <p:cNvPr id="26" name="Rounded Rectangle 25"/>
          <p:cNvSpPr/>
          <p:nvPr/>
        </p:nvSpPr>
        <p:spPr>
          <a:xfrm>
            <a:off x="548640" y="5212080"/>
            <a:ext cx="3566160" cy="822960"/>
          </a:xfrm>
          <a:prstGeom prst="roundRect">
            <a:avLst/>
          </a:prstGeom>
          <a:solidFill>
            <a:srgbClr val="17171B"/>
          </a:solidFill>
          <a:ln w="1905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E63946"/>
                </a:solidFill>
                <a:latin typeface="Calibri"/>
              </a:defRPr>
            </a:pPr>
            <a:r>
              <a:t>vs Alert-Based Systems</a:t>
            </a:r>
          </a:p>
          <a:p>
            <a:pPr algn="ctr">
              <a:spcBef>
                <a:spcPts val="100"/>
              </a:spcBef>
              <a:spcAft>
                <a:spcPts val="200"/>
              </a:spcAft>
              <a:defRPr sz="1200" b="0">
                <a:solidFill>
                  <a:srgbClr val="D0D0D0"/>
                </a:solidFill>
                <a:latin typeface="Calibri"/>
              </a:defRPr>
            </a:pPr>
            <a:r>
              <a:t>We reason. They fire alarms.</a:t>
            </a:r>
          </a:p>
        </p:txBody>
      </p:sp>
      <p:sp>
        <p:nvSpPr>
          <p:cNvPr id="27" name="Rounded Rectangle 26"/>
          <p:cNvSpPr/>
          <p:nvPr/>
        </p:nvSpPr>
        <p:spPr>
          <a:xfrm>
            <a:off x="4297679" y="5212080"/>
            <a:ext cx="3566160" cy="822960"/>
          </a:xfrm>
          <a:prstGeom prst="roundRect">
            <a:avLst/>
          </a:prstGeom>
          <a:solidFill>
            <a:srgbClr val="17171B"/>
          </a:solidFill>
          <a:ln w="1905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F77F00"/>
                </a:solidFill>
                <a:latin typeface="Calibri"/>
              </a:defRPr>
            </a:pPr>
            <a:r>
              <a:t>vs Pure ML Solutions</a:t>
            </a:r>
          </a:p>
          <a:p>
            <a:pPr algn="ctr">
              <a:spcBef>
                <a:spcPts val="100"/>
              </a:spcBef>
              <a:spcAft>
                <a:spcPts val="200"/>
              </a:spcAft>
              <a:defRPr sz="1200" b="0">
                <a:solidFill>
                  <a:srgbClr val="D0D0D0"/>
                </a:solidFill>
                <a:latin typeface="Calibri"/>
              </a:defRPr>
            </a:pPr>
            <a:r>
              <a:t>We're interpretable and explainable.</a:t>
            </a:r>
          </a:p>
        </p:txBody>
      </p:sp>
      <p:sp>
        <p:nvSpPr>
          <p:cNvPr id="28" name="Rounded Rectangle 27"/>
          <p:cNvSpPr/>
          <p:nvPr/>
        </p:nvSpPr>
        <p:spPr>
          <a:xfrm>
            <a:off x="8046719" y="5212080"/>
            <a:ext cx="3566160" cy="822960"/>
          </a:xfrm>
          <a:prstGeom prst="roundRect">
            <a:avLst/>
          </a:prstGeom>
          <a:solidFill>
            <a:srgbClr val="17171B"/>
          </a:solidFill>
          <a:ln w="1905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06A77D"/>
                </a:solidFill>
                <a:latin typeface="Calibri"/>
              </a:defRPr>
            </a:pPr>
            <a:r>
              <a:t>vs Manual Operations</a:t>
            </a:r>
          </a:p>
          <a:p>
            <a:pPr algn="ctr">
              <a:spcBef>
                <a:spcPts val="100"/>
              </a:spcBef>
              <a:spcAft>
                <a:spcPts val="200"/>
              </a:spcAft>
              <a:defRPr sz="1200" b="0">
                <a:solidFill>
                  <a:srgbClr val="D0D0D0"/>
                </a:solidFill>
                <a:latin typeface="Calibri"/>
              </a:defRPr>
            </a:pPr>
            <a:r>
              <a:t>Seconds vs minutes. Always on.</a:t>
            </a:r>
          </a:p>
        </p:txBody>
      </p:sp>
      <p:sp>
        <p:nvSpPr>
          <p:cNvPr id="29" name="TextBox 28"/>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From Prototype to Production: 11 Iterations</a:t>
            </a:r>
          </a:p>
        </p:txBody>
      </p:sp>
      <p:cxnSp>
        <p:nvCxnSpPr>
          <p:cNvPr id="5" name="Connector 4"/>
          <p:cNvCxnSpPr/>
          <p:nvPr/>
        </p:nvCxnSpPr>
        <p:spPr>
          <a:xfrm>
            <a:off x="731520" y="3474720"/>
            <a:ext cx="10698480" cy="0"/>
          </a:xfrm>
          <a:prstGeom prst="line">
            <a:avLst/>
          </a:prstGeom>
          <a:ln w="38100">
            <a:solidFill>
              <a:srgbClr val="3A3A40"/>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280160" y="3291840"/>
            <a:ext cx="365760" cy="365760"/>
          </a:xfrm>
          <a:prstGeom prst="ellipse">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00" b="0">
                <a:solidFill>
                  <a:srgbClr val="E63946"/>
                </a:solidFill>
                <a:latin typeface="Calibri"/>
              </a:defRPr>
            </a:pPr>
          </a:p>
        </p:txBody>
      </p:sp>
      <p:cxnSp>
        <p:nvCxnSpPr>
          <p:cNvPr id="7" name="Connector 6"/>
          <p:cNvCxnSpPr/>
          <p:nvPr/>
        </p:nvCxnSpPr>
        <p:spPr>
          <a:xfrm>
            <a:off x="1463040" y="2377440"/>
            <a:ext cx="0" cy="1051560"/>
          </a:xfrm>
          <a:prstGeom prst="line">
            <a:avLst/>
          </a:prstGeom>
          <a:ln w="19050">
            <a:solidFill>
              <a:srgbClr val="E6394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77240" y="1371600"/>
            <a:ext cx="1737360" cy="914400"/>
          </a:xfrm>
          <a:prstGeom prst="roundRect">
            <a:avLst/>
          </a:prstGeom>
          <a:solidFill>
            <a:srgbClr val="2A2A2F"/>
          </a:solidFill>
          <a:ln w="1905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E63946"/>
                </a:solidFill>
                <a:latin typeface="Calibri"/>
              </a:defRPr>
            </a:pPr>
            <a:r>
              <a:t>v1.0</a:t>
            </a:r>
          </a:p>
          <a:p>
            <a:pPr algn="ctr">
              <a:spcBef>
                <a:spcPts val="100"/>
              </a:spcBef>
              <a:spcAft>
                <a:spcPts val="200"/>
              </a:spcAft>
              <a:defRPr sz="1100" b="1">
                <a:solidFill>
                  <a:srgbClr val="FFFFFF"/>
                </a:solidFill>
                <a:latin typeface="Calibri"/>
              </a:defRPr>
            </a:pPr>
            <a:r>
              <a:t>Basic Pipeline</a:t>
            </a:r>
          </a:p>
        </p:txBody>
      </p:sp>
      <p:sp>
        <p:nvSpPr>
          <p:cNvPr id="9" name="TextBox 8"/>
          <p:cNvSpPr txBox="1"/>
          <p:nvPr/>
        </p:nvSpPr>
        <p:spPr>
          <a:xfrm>
            <a:off x="777240" y="2331720"/>
            <a:ext cx="1737360" cy="548640"/>
          </a:xfrm>
          <a:prstGeom prst="rect">
            <a:avLst/>
          </a:prstGeom>
          <a:noFill/>
        </p:spPr>
        <p:txBody>
          <a:bodyPr wrap="square">
            <a:noAutofit/>
          </a:bodyPr>
          <a:lstStyle/>
          <a:p>
            <a:pPr algn="ctr">
              <a:spcBef>
                <a:spcPts val="0"/>
              </a:spcBef>
              <a:spcAft>
                <a:spcPts val="0"/>
              </a:spcAft>
              <a:defRPr sz="900" b="0">
                <a:solidFill>
                  <a:srgbClr val="A0A0A0"/>
                </a:solidFill>
                <a:latin typeface="Calibri"/>
              </a:defRPr>
            </a:pPr>
            <a:r>
              <a:t>Log parsing &amp; alert generation</a:t>
            </a:r>
          </a:p>
        </p:txBody>
      </p:sp>
      <p:sp>
        <p:nvSpPr>
          <p:cNvPr id="10" name="Oval 9"/>
          <p:cNvSpPr/>
          <p:nvPr/>
        </p:nvSpPr>
        <p:spPr>
          <a:xfrm>
            <a:off x="3108960" y="3291840"/>
            <a:ext cx="365760" cy="365760"/>
          </a:xfrm>
          <a:prstGeom prst="ellipse">
            <a:avLst/>
          </a:prstGeom>
          <a:solidFill>
            <a:srgbClr val="F77F00"/>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00" b="0">
                <a:solidFill>
                  <a:srgbClr val="F77F00"/>
                </a:solidFill>
                <a:latin typeface="Calibri"/>
              </a:defRPr>
            </a:pPr>
          </a:p>
        </p:txBody>
      </p:sp>
      <p:cxnSp>
        <p:nvCxnSpPr>
          <p:cNvPr id="11" name="Connector 10"/>
          <p:cNvCxnSpPr/>
          <p:nvPr/>
        </p:nvCxnSpPr>
        <p:spPr>
          <a:xfrm>
            <a:off x="3291840" y="3703320"/>
            <a:ext cx="0" cy="365760"/>
          </a:xfrm>
          <a:prstGeom prst="line">
            <a:avLst/>
          </a:prstGeom>
          <a:ln w="19050">
            <a:solidFill>
              <a:srgbClr val="F77F0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606040" y="4114800"/>
            <a:ext cx="1737360" cy="914400"/>
          </a:xfrm>
          <a:prstGeom prst="roundRect">
            <a:avLst/>
          </a:prstGeom>
          <a:solidFill>
            <a:srgbClr val="2A2A2F"/>
          </a:solidFill>
          <a:ln w="1905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F77F00"/>
                </a:solidFill>
                <a:latin typeface="Calibri"/>
              </a:defRPr>
            </a:pPr>
            <a:r>
              <a:t>v2.0</a:t>
            </a:r>
          </a:p>
          <a:p>
            <a:pPr algn="ctr">
              <a:spcBef>
                <a:spcPts val="100"/>
              </a:spcBef>
              <a:spcAft>
                <a:spcPts val="200"/>
              </a:spcAft>
              <a:defRPr sz="1100" b="1">
                <a:solidFill>
                  <a:srgbClr val="FFFFFF"/>
                </a:solidFill>
                <a:latin typeface="Calibri"/>
              </a:defRPr>
            </a:pPr>
            <a:r>
              <a:t>Redis Handling</a:t>
            </a:r>
          </a:p>
        </p:txBody>
      </p:sp>
      <p:sp>
        <p:nvSpPr>
          <p:cNvPr id="13" name="TextBox 12"/>
          <p:cNvSpPr txBox="1"/>
          <p:nvPr/>
        </p:nvSpPr>
        <p:spPr>
          <a:xfrm>
            <a:off x="2606040" y="5074920"/>
            <a:ext cx="1737360" cy="548640"/>
          </a:xfrm>
          <a:prstGeom prst="rect">
            <a:avLst/>
          </a:prstGeom>
          <a:noFill/>
        </p:spPr>
        <p:txBody>
          <a:bodyPr wrap="square">
            <a:noAutofit/>
          </a:bodyPr>
          <a:lstStyle/>
          <a:p>
            <a:pPr algn="ctr">
              <a:spcBef>
                <a:spcPts val="0"/>
              </a:spcBef>
              <a:spcAft>
                <a:spcPts val="0"/>
              </a:spcAft>
              <a:defRPr sz="900" b="0">
                <a:solidFill>
                  <a:srgbClr val="A0A0A0"/>
                </a:solidFill>
                <a:latin typeface="Calibri"/>
              </a:defRPr>
            </a:pPr>
            <a:r>
              <a:t>Service-specific remediation</a:t>
            </a:r>
          </a:p>
        </p:txBody>
      </p:sp>
      <p:sp>
        <p:nvSpPr>
          <p:cNvPr id="14" name="Oval 13"/>
          <p:cNvSpPr/>
          <p:nvPr/>
        </p:nvSpPr>
        <p:spPr>
          <a:xfrm>
            <a:off x="4937760" y="3291840"/>
            <a:ext cx="365760" cy="365760"/>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00" b="0">
                <a:solidFill>
                  <a:srgbClr val="457B9D"/>
                </a:solidFill>
                <a:latin typeface="Calibri"/>
              </a:defRPr>
            </a:pPr>
          </a:p>
        </p:txBody>
      </p:sp>
      <p:cxnSp>
        <p:nvCxnSpPr>
          <p:cNvPr id="15" name="Connector 14"/>
          <p:cNvCxnSpPr/>
          <p:nvPr/>
        </p:nvCxnSpPr>
        <p:spPr>
          <a:xfrm>
            <a:off x="5120640" y="2377440"/>
            <a:ext cx="0" cy="1051560"/>
          </a:xfrm>
          <a:prstGeom prst="line">
            <a:avLst/>
          </a:prstGeom>
          <a:ln w="19050">
            <a:solidFill>
              <a:srgbClr val="457B9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34840" y="1371600"/>
            <a:ext cx="1737360" cy="914400"/>
          </a:xfrm>
          <a:prstGeom prst="roundRect">
            <a:avLst/>
          </a:prstGeom>
          <a:solidFill>
            <a:srgbClr val="2A2A2F"/>
          </a:solidFill>
          <a:ln w="1905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457B9D"/>
                </a:solidFill>
                <a:latin typeface="Calibri"/>
              </a:defRPr>
            </a:pPr>
            <a:r>
              <a:t>v4.0</a:t>
            </a:r>
          </a:p>
          <a:p>
            <a:pPr algn="ctr">
              <a:spcBef>
                <a:spcPts val="100"/>
              </a:spcBef>
              <a:spcAft>
                <a:spcPts val="200"/>
              </a:spcAft>
              <a:defRPr sz="1100" b="1">
                <a:solidFill>
                  <a:srgbClr val="FFFFFF"/>
                </a:solidFill>
                <a:latin typeface="Calibri"/>
              </a:defRPr>
            </a:pPr>
            <a:r>
              <a:t>Multi-Service + Deps</a:t>
            </a:r>
          </a:p>
        </p:txBody>
      </p:sp>
      <p:sp>
        <p:nvSpPr>
          <p:cNvPr id="17" name="TextBox 16"/>
          <p:cNvSpPr txBox="1"/>
          <p:nvPr/>
        </p:nvSpPr>
        <p:spPr>
          <a:xfrm>
            <a:off x="4434840" y="2331720"/>
            <a:ext cx="1737360" cy="548640"/>
          </a:xfrm>
          <a:prstGeom prst="rect">
            <a:avLst/>
          </a:prstGeom>
          <a:noFill/>
        </p:spPr>
        <p:txBody>
          <a:bodyPr wrap="square">
            <a:noAutofit/>
          </a:bodyPr>
          <a:lstStyle/>
          <a:p>
            <a:pPr algn="ctr">
              <a:spcBef>
                <a:spcPts val="0"/>
              </a:spcBef>
              <a:spcAft>
                <a:spcPts val="0"/>
              </a:spcAft>
              <a:defRPr sz="900" b="0">
                <a:solidFill>
                  <a:srgbClr val="A0A0A0"/>
                </a:solidFill>
                <a:latin typeface="Calibri"/>
              </a:defRPr>
            </a:pPr>
            <a:r>
              <a:t>Dependency graph &amp; correlation</a:t>
            </a:r>
          </a:p>
        </p:txBody>
      </p:sp>
      <p:sp>
        <p:nvSpPr>
          <p:cNvPr id="18" name="Oval 17"/>
          <p:cNvSpPr/>
          <p:nvPr/>
        </p:nvSpPr>
        <p:spPr>
          <a:xfrm>
            <a:off x="6766560" y="3291840"/>
            <a:ext cx="365760" cy="365760"/>
          </a:xfrm>
          <a:prstGeom prst="ellipse">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00" b="0">
                <a:solidFill>
                  <a:srgbClr val="06A77D"/>
                </a:solidFill>
                <a:latin typeface="Calibri"/>
              </a:defRPr>
            </a:pPr>
          </a:p>
        </p:txBody>
      </p:sp>
      <p:cxnSp>
        <p:nvCxnSpPr>
          <p:cNvPr id="19" name="Connector 18"/>
          <p:cNvCxnSpPr/>
          <p:nvPr/>
        </p:nvCxnSpPr>
        <p:spPr>
          <a:xfrm>
            <a:off x="6949440" y="3703320"/>
            <a:ext cx="0" cy="365760"/>
          </a:xfrm>
          <a:prstGeom prst="line">
            <a:avLst/>
          </a:prstGeom>
          <a:ln w="19050">
            <a:solidFill>
              <a:srgbClr val="06A77D"/>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63640" y="4114800"/>
            <a:ext cx="1737360" cy="914400"/>
          </a:xfrm>
          <a:prstGeom prst="roundRect">
            <a:avLst/>
          </a:prstGeom>
          <a:solidFill>
            <a:srgbClr val="2A2A2F"/>
          </a:solidFill>
          <a:ln w="1905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06A77D"/>
                </a:solidFill>
                <a:latin typeface="Calibri"/>
              </a:defRPr>
            </a:pPr>
            <a:r>
              <a:t>v8.0</a:t>
            </a:r>
          </a:p>
          <a:p>
            <a:pPr algn="ctr">
              <a:spcBef>
                <a:spcPts val="100"/>
              </a:spcBef>
              <a:spcAft>
                <a:spcPts val="200"/>
              </a:spcAft>
              <a:defRPr sz="1100" b="1">
                <a:solidFill>
                  <a:srgbClr val="FFFFFF"/>
                </a:solidFill>
                <a:latin typeface="Calibri"/>
              </a:defRPr>
            </a:pPr>
            <a:r>
              <a:t>Confidence Gates</a:t>
            </a:r>
          </a:p>
        </p:txBody>
      </p:sp>
      <p:sp>
        <p:nvSpPr>
          <p:cNvPr id="21" name="TextBox 20"/>
          <p:cNvSpPr txBox="1"/>
          <p:nvPr/>
        </p:nvSpPr>
        <p:spPr>
          <a:xfrm>
            <a:off x="6263640" y="5074920"/>
            <a:ext cx="1737360" cy="548640"/>
          </a:xfrm>
          <a:prstGeom prst="rect">
            <a:avLst/>
          </a:prstGeom>
          <a:noFill/>
        </p:spPr>
        <p:txBody>
          <a:bodyPr wrap="square">
            <a:noAutofit/>
          </a:bodyPr>
          <a:lstStyle/>
          <a:p>
            <a:pPr algn="ctr">
              <a:spcBef>
                <a:spcPts val="0"/>
              </a:spcBef>
              <a:spcAft>
                <a:spcPts val="0"/>
              </a:spcAft>
              <a:defRPr sz="900" b="0">
                <a:solidFill>
                  <a:srgbClr val="A0A0A0"/>
                </a:solidFill>
                <a:latin typeface="Calibri"/>
              </a:defRPr>
            </a:pPr>
            <a:r>
              <a:t>Certainty scoring &amp; safety</a:t>
            </a:r>
          </a:p>
        </p:txBody>
      </p:sp>
      <p:sp>
        <p:nvSpPr>
          <p:cNvPr id="22" name="Oval 21"/>
          <p:cNvSpPr/>
          <p:nvPr/>
        </p:nvSpPr>
        <p:spPr>
          <a:xfrm>
            <a:off x="8595360" y="3291840"/>
            <a:ext cx="365760" cy="365760"/>
          </a:xfrm>
          <a:prstGeom prst="ellipse">
            <a:avLst/>
          </a:prstGeom>
          <a:solidFill>
            <a:srgbClr val="7209B7"/>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00" b="0">
                <a:solidFill>
                  <a:srgbClr val="7209B7"/>
                </a:solidFill>
                <a:latin typeface="Calibri"/>
              </a:defRPr>
            </a:pPr>
          </a:p>
        </p:txBody>
      </p:sp>
      <p:cxnSp>
        <p:nvCxnSpPr>
          <p:cNvPr id="23" name="Connector 22"/>
          <p:cNvCxnSpPr/>
          <p:nvPr/>
        </p:nvCxnSpPr>
        <p:spPr>
          <a:xfrm>
            <a:off x="8778240" y="2377440"/>
            <a:ext cx="0" cy="1051560"/>
          </a:xfrm>
          <a:prstGeom prst="line">
            <a:avLst/>
          </a:prstGeom>
          <a:ln w="19050">
            <a:solidFill>
              <a:srgbClr val="7209B7"/>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092440" y="1371600"/>
            <a:ext cx="1737360" cy="914400"/>
          </a:xfrm>
          <a:prstGeom prst="roundRect">
            <a:avLst/>
          </a:prstGeom>
          <a:solidFill>
            <a:srgbClr val="2A2A2F"/>
          </a:solidFill>
          <a:ln w="1905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7209B7"/>
                </a:solidFill>
                <a:latin typeface="Calibri"/>
              </a:defRPr>
            </a:pPr>
            <a:r>
              <a:t>v9.0</a:t>
            </a:r>
          </a:p>
          <a:p>
            <a:pPr algn="ctr">
              <a:spcBef>
                <a:spcPts val="100"/>
              </a:spcBef>
              <a:spcAft>
                <a:spcPts val="200"/>
              </a:spcAft>
              <a:defRPr sz="1100" b="1">
                <a:solidFill>
                  <a:srgbClr val="FFFFFF"/>
                </a:solidFill>
                <a:latin typeface="Calibri"/>
              </a:defRPr>
            </a:pPr>
            <a:r>
              <a:t>LLM Integration</a:t>
            </a:r>
          </a:p>
        </p:txBody>
      </p:sp>
      <p:sp>
        <p:nvSpPr>
          <p:cNvPr id="25" name="TextBox 24"/>
          <p:cNvSpPr txBox="1"/>
          <p:nvPr/>
        </p:nvSpPr>
        <p:spPr>
          <a:xfrm>
            <a:off x="8092440" y="2331720"/>
            <a:ext cx="1737360" cy="548640"/>
          </a:xfrm>
          <a:prstGeom prst="rect">
            <a:avLst/>
          </a:prstGeom>
          <a:noFill/>
        </p:spPr>
        <p:txBody>
          <a:bodyPr wrap="square">
            <a:noAutofit/>
          </a:bodyPr>
          <a:lstStyle/>
          <a:p>
            <a:pPr algn="ctr">
              <a:spcBef>
                <a:spcPts val="0"/>
              </a:spcBef>
              <a:spcAft>
                <a:spcPts val="0"/>
              </a:spcAft>
              <a:defRPr sz="900" b="0">
                <a:solidFill>
                  <a:srgbClr val="A0A0A0"/>
                </a:solidFill>
                <a:latin typeface="Calibri"/>
              </a:defRPr>
            </a:pPr>
            <a:r>
              <a:t>Ollama qwen2.5:3b hybrid reasoning</a:t>
            </a:r>
          </a:p>
        </p:txBody>
      </p:sp>
      <p:sp>
        <p:nvSpPr>
          <p:cNvPr id="26" name="Oval 25"/>
          <p:cNvSpPr/>
          <p:nvPr/>
        </p:nvSpPr>
        <p:spPr>
          <a:xfrm>
            <a:off x="10424160" y="3291840"/>
            <a:ext cx="365760" cy="365760"/>
          </a:xfrm>
          <a:prstGeom prst="ellipse">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00" b="0">
                <a:solidFill>
                  <a:srgbClr val="06A77D"/>
                </a:solidFill>
                <a:latin typeface="Calibri"/>
              </a:defRPr>
            </a:pPr>
          </a:p>
        </p:txBody>
      </p:sp>
      <p:cxnSp>
        <p:nvCxnSpPr>
          <p:cNvPr id="27" name="Connector 26"/>
          <p:cNvCxnSpPr/>
          <p:nvPr/>
        </p:nvCxnSpPr>
        <p:spPr>
          <a:xfrm>
            <a:off x="10607040" y="3703320"/>
            <a:ext cx="0" cy="365760"/>
          </a:xfrm>
          <a:prstGeom prst="line">
            <a:avLst/>
          </a:prstGeom>
          <a:ln w="19050">
            <a:solidFill>
              <a:srgbClr val="06A77D"/>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921240" y="4114800"/>
            <a:ext cx="1737360" cy="914400"/>
          </a:xfrm>
          <a:prstGeom prst="roundRect">
            <a:avLst/>
          </a:prstGeom>
          <a:solidFill>
            <a:srgbClr val="2A2A2F"/>
          </a:solidFill>
          <a:ln w="1905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Bef>
                <a:spcPts val="100"/>
              </a:spcBef>
              <a:spcAft>
                <a:spcPts val="200"/>
              </a:spcAft>
              <a:defRPr sz="1200" b="1">
                <a:solidFill>
                  <a:srgbClr val="06A77D"/>
                </a:solidFill>
                <a:latin typeface="Calibri"/>
              </a:defRPr>
            </a:pPr>
            <a:r>
              <a:t>v11</a:t>
            </a:r>
          </a:p>
          <a:p>
            <a:pPr algn="ctr">
              <a:spcBef>
                <a:spcPts val="100"/>
              </a:spcBef>
              <a:spcAft>
                <a:spcPts val="200"/>
              </a:spcAft>
              <a:defRPr sz="1100" b="1">
                <a:solidFill>
                  <a:srgbClr val="FFFFFF"/>
                </a:solidFill>
                <a:latin typeface="Calibri"/>
              </a:defRPr>
            </a:pPr>
            <a:r>
              <a:t>Learning + Dashboard</a:t>
            </a:r>
          </a:p>
        </p:txBody>
      </p:sp>
      <p:sp>
        <p:nvSpPr>
          <p:cNvPr id="29" name="TextBox 28"/>
          <p:cNvSpPr txBox="1"/>
          <p:nvPr/>
        </p:nvSpPr>
        <p:spPr>
          <a:xfrm>
            <a:off x="9921240" y="5074920"/>
            <a:ext cx="1737360" cy="548640"/>
          </a:xfrm>
          <a:prstGeom prst="rect">
            <a:avLst/>
          </a:prstGeom>
          <a:noFill/>
        </p:spPr>
        <p:txBody>
          <a:bodyPr wrap="square">
            <a:noAutofit/>
          </a:bodyPr>
          <a:lstStyle/>
          <a:p>
            <a:pPr algn="ctr">
              <a:spcBef>
                <a:spcPts val="0"/>
              </a:spcBef>
              <a:spcAft>
                <a:spcPts val="0"/>
              </a:spcAft>
              <a:defRPr sz="900" b="0">
                <a:solidFill>
                  <a:srgbClr val="A0A0A0"/>
                </a:solidFill>
                <a:latin typeface="Calibri"/>
              </a:defRPr>
            </a:pPr>
            <a:r>
              <a:t>Adaptive ML &amp; Streamlit UI</a:t>
            </a:r>
          </a:p>
        </p:txBody>
      </p:sp>
      <p:sp>
        <p:nvSpPr>
          <p:cNvPr id="30" name="Rounded Rectangle 29"/>
          <p:cNvSpPr/>
          <p:nvPr/>
        </p:nvSpPr>
        <p:spPr>
          <a:xfrm>
            <a:off x="2286000" y="5943600"/>
            <a:ext cx="7619695" cy="502920"/>
          </a:xfrm>
          <a:prstGeom prst="roundRect">
            <a:avLst/>
          </a:prstGeom>
          <a:solidFill>
            <a:srgbClr val="17171B"/>
          </a:solidFill>
          <a:ln w="12700">
            <a:solidFill>
              <a:srgbClr val="3A3A40"/>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300" b="0">
                <a:solidFill>
                  <a:srgbClr val="A0A0A0"/>
                </a:solidFill>
                <a:latin typeface="Calibri"/>
              </a:defRPr>
            </a:pPr>
            <a:r>
              <a:t>Each iteration validated against real incident data before progressing</a:t>
            </a:r>
          </a:p>
        </p:txBody>
      </p:sp>
      <p:sp>
        <p:nvSpPr>
          <p:cNvPr id="31" name="TextBox 30"/>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1F23"/>
        </a:solidFill>
        <a:effectLst/>
      </p:bgPr>
    </p:bg>
    <p:spTree>
      <p:nvGrpSpPr>
        <p:cNvPr id="1" name=""/>
        <p:cNvGrpSpPr/>
        <p:nvPr/>
      </p:nvGrpSpPr>
      <p:grpSpPr/>
      <p:cxnSp>
        <p:nvCxnSpPr>
          <p:cNvPr id="2" name="Connector 1"/>
          <p:cNvCxnSpPr/>
          <p:nvPr/>
        </p:nvCxnSpPr>
        <p:spPr>
          <a:xfrm>
            <a:off x="507987"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015974"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523961"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031949"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539936"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047923"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555911"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63898"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71885"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079873"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587860"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847"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603834"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111822"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619809"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127796"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635784"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143771"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651758"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159746"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667733"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175720"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683707" y="0"/>
            <a:ext cx="0" cy="685800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489857"/>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979714"/>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1469571"/>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1959428"/>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2449285"/>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2939142"/>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3429000"/>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3918857"/>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4408714"/>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4898571"/>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5388428"/>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5878285"/>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6368142"/>
            <a:ext cx="12191695" cy="0"/>
          </a:xfrm>
          <a:prstGeom prst="line">
            <a:avLst/>
          </a:prstGeom>
          <a:ln w="6350">
            <a:solidFill>
              <a:srgbClr val="26262C"/>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0" y="0"/>
            <a:ext cx="12191695" cy="54864"/>
          </a:xfrm>
          <a:prstGeom prst="rect">
            <a:avLst/>
          </a:prstGeom>
          <a:solidFill>
            <a:srgbClr val="7209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0080" y="274320"/>
            <a:ext cx="54864" cy="4572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228600"/>
            <a:ext cx="10058400" cy="548640"/>
          </a:xfrm>
          <a:prstGeom prst="rect">
            <a:avLst/>
          </a:prstGeom>
          <a:noFill/>
        </p:spPr>
        <p:txBody>
          <a:bodyPr wrap="square">
            <a:noAutofit/>
          </a:bodyPr>
          <a:lstStyle/>
          <a:p>
            <a:pPr algn="l">
              <a:spcBef>
                <a:spcPts val="0"/>
              </a:spcBef>
              <a:spcAft>
                <a:spcPts val="0"/>
              </a:spcAft>
              <a:defRPr sz="3200" b="1">
                <a:solidFill>
                  <a:srgbClr val="FFFFFF"/>
                </a:solidFill>
                <a:latin typeface="Calibri"/>
              </a:defRPr>
            </a:pPr>
            <a:r>
              <a:t>Next Frontiers in Cloud Operations</a:t>
            </a:r>
          </a:p>
        </p:txBody>
      </p:sp>
      <p:sp>
        <p:nvSpPr>
          <p:cNvPr id="41" name="Rounded Rectangle 40"/>
          <p:cNvSpPr/>
          <p:nvPr/>
        </p:nvSpPr>
        <p:spPr>
          <a:xfrm>
            <a:off x="731520" y="1371600"/>
            <a:ext cx="3383280" cy="3200400"/>
          </a:xfrm>
          <a:prstGeom prst="roundRect">
            <a:avLst/>
          </a:prstGeom>
          <a:solidFill>
            <a:srgbClr val="2A2A2F"/>
          </a:solidFill>
          <a:ln w="2540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057400" y="1143000"/>
            <a:ext cx="731520" cy="731520"/>
          </a:xfrm>
          <a:prstGeom prst="ellipse">
            <a:avLst/>
          </a:prstGeom>
          <a:solidFill>
            <a:srgbClr val="7209B7"/>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2200" b="1">
                <a:solidFill>
                  <a:srgbClr val="FFFFFF"/>
                </a:solidFill>
                <a:latin typeface="Calibri"/>
              </a:defRPr>
            </a:pPr>
            <a:r>
              <a:t>🔮</a:t>
            </a:r>
          </a:p>
        </p:txBody>
      </p:sp>
      <p:sp>
        <p:nvSpPr>
          <p:cNvPr id="43" name="TextBox 42"/>
          <p:cNvSpPr txBox="1"/>
          <p:nvPr/>
        </p:nvSpPr>
        <p:spPr>
          <a:xfrm>
            <a:off x="914400" y="2011680"/>
            <a:ext cx="3017520" cy="640080"/>
          </a:xfrm>
          <a:prstGeom prst="rect">
            <a:avLst/>
          </a:prstGeom>
          <a:noFill/>
        </p:spPr>
        <p:txBody>
          <a:bodyPr wrap="square">
            <a:noAutofit/>
          </a:bodyPr>
          <a:lstStyle/>
          <a:p>
            <a:pPr algn="ctr">
              <a:spcBef>
                <a:spcPts val="0"/>
              </a:spcBef>
              <a:spcAft>
                <a:spcPts val="0"/>
              </a:spcAft>
              <a:defRPr sz="1800" b="1">
                <a:solidFill>
                  <a:srgbClr val="7209B7"/>
                </a:solidFill>
                <a:latin typeface="Calibri"/>
              </a:defRPr>
            </a:pPr>
            <a:r>
              <a:t>Predictive</a:t>
            </a:r>
            <a:br/>
            <a:r>
              <a:t>Autonomy</a:t>
            </a:r>
          </a:p>
        </p:txBody>
      </p:sp>
      <p:cxnSp>
        <p:nvCxnSpPr>
          <p:cNvPr id="44" name="Connector 43"/>
          <p:cNvCxnSpPr/>
          <p:nvPr/>
        </p:nvCxnSpPr>
        <p:spPr>
          <a:xfrm>
            <a:off x="1188720" y="2743200"/>
            <a:ext cx="2468880"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005840" y="2834640"/>
            <a:ext cx="2834640" cy="1188720"/>
          </a:xfrm>
          <a:prstGeom prst="rect">
            <a:avLst/>
          </a:prstGeom>
          <a:noFill/>
        </p:spPr>
        <p:txBody>
          <a:bodyPr wrap="square">
            <a:noAutofit/>
          </a:bodyPr>
          <a:lstStyle/>
          <a:p>
            <a:pPr algn="ctr">
              <a:spcBef>
                <a:spcPts val="0"/>
              </a:spcBef>
              <a:spcAft>
                <a:spcPts val="0"/>
              </a:spcAft>
              <a:defRPr sz="1300" b="0">
                <a:solidFill>
                  <a:srgbClr val="D0D0D0"/>
                </a:solidFill>
                <a:latin typeface="Calibri"/>
              </a:defRPr>
            </a:pPr>
            <a:r>
              <a:t>Prevent failures before</a:t>
            </a:r>
            <a:br/>
            <a:r>
              <a:t>they happen. Anomaly</a:t>
            </a:r>
            <a:br/>
            <a:r>
              <a:t>forecasting with temporal</a:t>
            </a:r>
            <a:br/>
            <a:r>
              <a:t>pattern analysis.</a:t>
            </a:r>
          </a:p>
        </p:txBody>
      </p:sp>
      <p:sp>
        <p:nvSpPr>
          <p:cNvPr id="46" name="Rounded Rectangle 45"/>
          <p:cNvSpPr/>
          <p:nvPr/>
        </p:nvSpPr>
        <p:spPr>
          <a:xfrm>
            <a:off x="4480559" y="1371600"/>
            <a:ext cx="3383280" cy="3200400"/>
          </a:xfrm>
          <a:prstGeom prst="roundRect">
            <a:avLst/>
          </a:prstGeom>
          <a:solidFill>
            <a:srgbClr val="2A2A2F"/>
          </a:solidFill>
          <a:ln w="25400">
            <a:solidFill>
              <a:srgbClr val="457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5806440" y="1143000"/>
            <a:ext cx="731520" cy="731520"/>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2200" b="1">
                <a:solidFill>
                  <a:srgbClr val="FFFFFF"/>
                </a:solidFill>
                <a:latin typeface="Calibri"/>
              </a:defRPr>
            </a:pPr>
            <a:r>
              <a:t>🌐</a:t>
            </a:r>
          </a:p>
        </p:txBody>
      </p:sp>
      <p:sp>
        <p:nvSpPr>
          <p:cNvPr id="48" name="TextBox 47"/>
          <p:cNvSpPr txBox="1"/>
          <p:nvPr/>
        </p:nvSpPr>
        <p:spPr>
          <a:xfrm>
            <a:off x="4663440" y="2011680"/>
            <a:ext cx="3017520" cy="640080"/>
          </a:xfrm>
          <a:prstGeom prst="rect">
            <a:avLst/>
          </a:prstGeom>
          <a:noFill/>
        </p:spPr>
        <p:txBody>
          <a:bodyPr wrap="square">
            <a:noAutofit/>
          </a:bodyPr>
          <a:lstStyle/>
          <a:p>
            <a:pPr algn="ctr">
              <a:spcBef>
                <a:spcPts val="0"/>
              </a:spcBef>
              <a:spcAft>
                <a:spcPts val="0"/>
              </a:spcAft>
              <a:defRPr sz="1800" b="1">
                <a:solidFill>
                  <a:srgbClr val="457B9D"/>
                </a:solidFill>
                <a:latin typeface="Calibri"/>
              </a:defRPr>
            </a:pPr>
            <a:r>
              <a:t>Multi-Cluster</a:t>
            </a:r>
            <a:br/>
            <a:r>
              <a:t>Reasoning</a:t>
            </a:r>
          </a:p>
        </p:txBody>
      </p:sp>
      <p:cxnSp>
        <p:nvCxnSpPr>
          <p:cNvPr id="49" name="Connector 48"/>
          <p:cNvCxnSpPr/>
          <p:nvPr/>
        </p:nvCxnSpPr>
        <p:spPr>
          <a:xfrm>
            <a:off x="4937759" y="2743200"/>
            <a:ext cx="2468881"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754879" y="2834640"/>
            <a:ext cx="2834640" cy="1188720"/>
          </a:xfrm>
          <a:prstGeom prst="rect">
            <a:avLst/>
          </a:prstGeom>
          <a:noFill/>
        </p:spPr>
        <p:txBody>
          <a:bodyPr wrap="square">
            <a:noAutofit/>
          </a:bodyPr>
          <a:lstStyle/>
          <a:p>
            <a:pPr algn="ctr">
              <a:spcBef>
                <a:spcPts val="0"/>
              </a:spcBef>
              <a:spcAft>
                <a:spcPts val="0"/>
              </a:spcAft>
              <a:defRPr sz="1300" b="0">
                <a:solidFill>
                  <a:srgbClr val="D0D0D0"/>
                </a:solidFill>
                <a:latin typeface="Calibri"/>
              </a:defRPr>
            </a:pPr>
            <a:r>
              <a:t>Coordinate remediation</a:t>
            </a:r>
            <a:br/>
            <a:r>
              <a:t>across regions and</a:t>
            </a:r>
            <a:br/>
            <a:r>
              <a:t>clusters. Global</a:t>
            </a:r>
            <a:br/>
            <a:r>
              <a:t>operational intelligence.</a:t>
            </a:r>
          </a:p>
        </p:txBody>
      </p:sp>
      <p:sp>
        <p:nvSpPr>
          <p:cNvPr id="51" name="Rounded Rectangle 50"/>
          <p:cNvSpPr/>
          <p:nvPr/>
        </p:nvSpPr>
        <p:spPr>
          <a:xfrm>
            <a:off x="8229600" y="1371600"/>
            <a:ext cx="3383280" cy="3200400"/>
          </a:xfrm>
          <a:prstGeom prst="roundRect">
            <a:avLst/>
          </a:prstGeom>
          <a:solidFill>
            <a:srgbClr val="2A2A2F"/>
          </a:solidFill>
          <a:ln w="25400">
            <a:solidFill>
              <a:srgbClr val="06A7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555480" y="1143000"/>
            <a:ext cx="731520" cy="731520"/>
          </a:xfrm>
          <a:prstGeom prst="ellipse">
            <a:avLst/>
          </a:prstGeom>
          <a:solidFill>
            <a:srgbClr val="06A77D"/>
          </a:solidFill>
          <a:ln>
            <a:no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2200" b="1">
                <a:solidFill>
                  <a:srgbClr val="FFFFFF"/>
                </a:solidFill>
                <a:latin typeface="Calibri"/>
              </a:defRPr>
            </a:pPr>
            <a:r>
              <a:t>💬</a:t>
            </a:r>
          </a:p>
        </p:txBody>
      </p:sp>
      <p:sp>
        <p:nvSpPr>
          <p:cNvPr id="53" name="TextBox 52"/>
          <p:cNvSpPr txBox="1"/>
          <p:nvPr/>
        </p:nvSpPr>
        <p:spPr>
          <a:xfrm>
            <a:off x="8412480" y="2011680"/>
            <a:ext cx="3017520" cy="640080"/>
          </a:xfrm>
          <a:prstGeom prst="rect">
            <a:avLst/>
          </a:prstGeom>
          <a:noFill/>
        </p:spPr>
        <p:txBody>
          <a:bodyPr wrap="square">
            <a:noAutofit/>
          </a:bodyPr>
          <a:lstStyle/>
          <a:p>
            <a:pPr algn="ctr">
              <a:spcBef>
                <a:spcPts val="0"/>
              </a:spcBef>
              <a:spcAft>
                <a:spcPts val="0"/>
              </a:spcAft>
              <a:defRPr sz="1800" b="1">
                <a:solidFill>
                  <a:srgbClr val="06A77D"/>
                </a:solidFill>
                <a:latin typeface="Calibri"/>
              </a:defRPr>
            </a:pPr>
            <a:r>
              <a:t>Natural Language</a:t>
            </a:r>
            <a:br/>
            <a:r>
              <a:t>Operations</a:t>
            </a:r>
          </a:p>
        </p:txBody>
      </p:sp>
      <p:cxnSp>
        <p:nvCxnSpPr>
          <p:cNvPr id="54" name="Connector 53"/>
          <p:cNvCxnSpPr/>
          <p:nvPr/>
        </p:nvCxnSpPr>
        <p:spPr>
          <a:xfrm>
            <a:off x="8686800" y="2743200"/>
            <a:ext cx="2468880" cy="0"/>
          </a:xfrm>
          <a:prstGeom prst="line">
            <a:avLst/>
          </a:prstGeom>
          <a:ln w="12700">
            <a:solidFill>
              <a:srgbClr val="3A3A40"/>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503920" y="2834640"/>
            <a:ext cx="2834640" cy="1188720"/>
          </a:xfrm>
          <a:prstGeom prst="rect">
            <a:avLst/>
          </a:prstGeom>
          <a:noFill/>
        </p:spPr>
        <p:txBody>
          <a:bodyPr wrap="square">
            <a:noAutofit/>
          </a:bodyPr>
          <a:lstStyle/>
          <a:p>
            <a:pPr algn="ctr">
              <a:spcBef>
                <a:spcPts val="0"/>
              </a:spcBef>
              <a:spcAft>
                <a:spcPts val="0"/>
              </a:spcAft>
              <a:defRPr sz="1300" b="0">
                <a:solidFill>
                  <a:srgbClr val="D0D0D0"/>
                </a:solidFill>
                <a:latin typeface="Calibri"/>
              </a:defRPr>
            </a:pPr>
            <a:r>
              <a:t>Describe intent in</a:t>
            </a:r>
            <a:br/>
            <a:r>
              <a:t>English. The system</a:t>
            </a:r>
            <a:br/>
            <a:r>
              <a:t>translates to</a:t>
            </a:r>
            <a:br/>
            <a:r>
              <a:t>infrastructure actions.</a:t>
            </a:r>
          </a:p>
        </p:txBody>
      </p:sp>
      <p:sp>
        <p:nvSpPr>
          <p:cNvPr id="56" name="Rounded Rectangle 55"/>
          <p:cNvSpPr/>
          <p:nvPr/>
        </p:nvSpPr>
        <p:spPr>
          <a:xfrm>
            <a:off x="1371600" y="4846320"/>
            <a:ext cx="9448495" cy="777240"/>
          </a:xfrm>
          <a:prstGeom prst="roundRect">
            <a:avLst/>
          </a:prstGeom>
          <a:solidFill>
            <a:srgbClr val="17171B"/>
          </a:solidFill>
          <a:ln w="25400">
            <a:solidFill>
              <a:srgbClr val="7209B7"/>
            </a:solidFill>
          </a:ln>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defRPr sz="1600" b="0">
                <a:solidFill>
                  <a:srgbClr val="7209B7"/>
                </a:solidFill>
                <a:latin typeface="Calibri"/>
              </a:defRPr>
            </a:pPr>
            <a:r>
              <a:t>"Kubernetes automated orchestration. The next frontier is automating operational intelligence."</a:t>
            </a:r>
          </a:p>
        </p:txBody>
      </p:sp>
      <p:sp>
        <p:nvSpPr>
          <p:cNvPr id="57" name="TextBox 56"/>
          <p:cNvSpPr txBox="1"/>
          <p:nvPr/>
        </p:nvSpPr>
        <p:spPr>
          <a:xfrm>
            <a:off x="1828800" y="5852160"/>
            <a:ext cx="8534095" cy="457200"/>
          </a:xfrm>
          <a:prstGeom prst="rect">
            <a:avLst/>
          </a:prstGeom>
          <a:noFill/>
        </p:spPr>
        <p:txBody>
          <a:bodyPr wrap="square">
            <a:noAutofit/>
          </a:bodyPr>
          <a:lstStyle/>
          <a:p>
            <a:pPr algn="ctr">
              <a:spcBef>
                <a:spcPts val="0"/>
              </a:spcBef>
              <a:spcAft>
                <a:spcPts val="0"/>
              </a:spcAft>
              <a:defRPr sz="1800" b="1">
                <a:solidFill>
                  <a:srgbClr val="FFFFFF"/>
                </a:solidFill>
                <a:latin typeface="Calibri"/>
              </a:defRPr>
            </a:pPr>
            <a:r>
              <a:t>Log_Analyzer  ·  Autonomous AIOps for Kubernetes</a:t>
            </a:r>
          </a:p>
        </p:txBody>
      </p:sp>
      <p:sp>
        <p:nvSpPr>
          <p:cNvPr id="58" name="TextBox 57"/>
          <p:cNvSpPr txBox="1"/>
          <p:nvPr/>
        </p:nvSpPr>
        <p:spPr>
          <a:xfrm>
            <a:off x="1828800" y="6309360"/>
            <a:ext cx="8534095" cy="365760"/>
          </a:xfrm>
          <a:prstGeom prst="rect">
            <a:avLst/>
          </a:prstGeom>
          <a:noFill/>
        </p:spPr>
        <p:txBody>
          <a:bodyPr wrap="square">
            <a:noAutofit/>
          </a:bodyPr>
          <a:lstStyle/>
          <a:p>
            <a:pPr algn="ctr">
              <a:spcBef>
                <a:spcPts val="0"/>
              </a:spcBef>
              <a:spcAft>
                <a:spcPts val="0"/>
              </a:spcAft>
              <a:defRPr sz="1400" b="0">
                <a:solidFill>
                  <a:srgbClr val="A0A0A0"/>
                </a:solidFill>
                <a:latin typeface="Calibri"/>
              </a:defRPr>
            </a:pPr>
            <a:r>
              <a:t>Thank you  ·  Questions?</a:t>
            </a:r>
          </a:p>
        </p:txBody>
      </p:sp>
      <p:sp>
        <p:nvSpPr>
          <p:cNvPr id="59" name="TextBox 58"/>
          <p:cNvSpPr txBox="1"/>
          <p:nvPr/>
        </p:nvSpPr>
        <p:spPr>
          <a:xfrm>
            <a:off x="10789920" y="6400800"/>
            <a:ext cx="1188720" cy="365760"/>
          </a:xfrm>
          <a:prstGeom prst="rect">
            <a:avLst/>
          </a:prstGeom>
          <a:noFill/>
        </p:spPr>
        <p:txBody>
          <a:bodyPr wrap="square">
            <a:noAutofit/>
          </a:bodyPr>
          <a:lstStyle/>
          <a:p>
            <a:pPr algn="r">
              <a:spcBef>
                <a:spcPts val="0"/>
              </a:spcBef>
              <a:spcAft>
                <a:spcPts val="0"/>
              </a:spcAft>
              <a:defRPr sz="1000" b="0">
                <a:solidFill>
                  <a:srgbClr val="A0A0A0"/>
                </a:solidFill>
                <a:latin typeface="Calibri"/>
              </a:defRPr>
            </a:pPr>
            <a: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